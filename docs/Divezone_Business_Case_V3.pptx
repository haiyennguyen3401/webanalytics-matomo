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9_0.xml" ContentType="application/vnd.ms-powerpoint.comments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80" r:id="rId8"/>
    <p:sldId id="277" r:id="rId9"/>
    <p:sldId id="278" r:id="rId10"/>
    <p:sldId id="264" r:id="rId11"/>
    <p:sldId id="265" r:id="rId12"/>
    <p:sldId id="284" r:id="rId13"/>
    <p:sldId id="282" r:id="rId14"/>
    <p:sldId id="28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4CAC19-E136-1A1C-A426-A5D8A4389720}" name="Utilisateur invité" initials="Ui" userId="S::urn:spo:tenantanon#a2697119-66c5-4126-9991-b0a8d15d367f::" providerId="AD"/>
  <p188:author id="{76373ABE-109C-9465-FBDD-47D0D2CE9244}" name="Hai Yen NGUYEN" initials="HYN" userId="S::haiyen.nguyen@inseec-france.com::443d1389-f93a-4c04-8fb0-502fd54973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0"/>
    <p:restoredTop sz="91320"/>
  </p:normalViewPr>
  <p:slideViewPr>
    <p:cSldViewPr snapToGrid="0" snapToObjects="1">
      <p:cViewPr varScale="1">
        <p:scale>
          <a:sx n="71" d="100"/>
          <a:sy n="71" d="100"/>
        </p:scale>
        <p:origin x="192" y="1544"/>
      </p:cViewPr>
      <p:guideLst/>
    </p:cSldViewPr>
  </p:slid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Trafic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9C-7F49-AE42-340565642851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9C-7F49-AE42-340565642851}"/>
              </c:ext>
            </c:extLst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9C-7F49-AE42-340565642851}"/>
              </c:ext>
            </c:extLst>
          </c:dPt>
          <c:dPt>
            <c:idx val="3"/>
            <c:bubble3D val="0"/>
            <c:spPr>
              <a:solidFill>
                <a:srgbClr val="9DB4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9C-7F49-AE42-340565642851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9C-7F49-AE42-340565642851}"/>
              </c:ext>
            </c:extLst>
          </c:dPt>
          <c:cat>
            <c:strRef>
              <c:f>Sheet1!$A$2:$A$6</c:f>
              <c:strCache>
                <c:ptCount val="5"/>
                <c:pt idx="0">
                  <c:v>Moteurs de recherche (54 %)</c:v>
                </c:pt>
                <c:pt idx="1">
                  <c:v>Réseaux sociaux (20 %)</c:v>
                </c:pt>
                <c:pt idx="2">
                  <c:v>Sites partenaires (14 %)</c:v>
                </c:pt>
                <c:pt idx="3">
                  <c:v>Entrées directes (11 %)</c:v>
                </c:pt>
                <c:pt idx="4">
                  <c:v>Campagnes (0 %)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709580</c:v>
                </c:pt>
                <c:pt idx="1">
                  <c:v>259358</c:v>
                </c:pt>
                <c:pt idx="2">
                  <c:v>189463</c:v>
                </c:pt>
                <c:pt idx="3">
                  <c:v>148237</c:v>
                </c:pt>
                <c:pt idx="4">
                  <c:v>1019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B9C-7F49-AE42-3405656428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/>
              <a:t>Taux de rebond par canal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rebond (%)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AAF-2E4B-94A0-2400D4ABC0D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AF-2E4B-94A0-2400D4ABC0D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AAF-2E4B-94A0-2400D4ABC0D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AAF-2E4B-94A0-2400D4ABC0D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AAF-2E4B-94A0-2400D4ABC0D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AAF-2E4B-94A0-2400D4ABC0D2}"/>
              </c:ext>
            </c:extLst>
          </c:dPt>
          <c:dPt>
            <c:idx val="6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AAF-2E4B-94A0-2400D4ABC0D2}"/>
              </c:ext>
            </c:extLst>
          </c:dPt>
          <c:dLbls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87%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AAF-2E4B-94A0-2400D4ABC0D2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DuckDuckGo</c:v>
                </c:pt>
                <c:pt idx="1">
                  <c:v>Qwant</c:v>
                </c:pt>
                <c:pt idx="2">
                  <c:v>Yahoo</c:v>
                </c:pt>
                <c:pt idx="3">
                  <c:v>Google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43</c:v>
                </c:pt>
                <c:pt idx="2">
                  <c:v>58</c:v>
                </c:pt>
                <c:pt idx="3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AAF-2E4B-94A0-2400D4ABC0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>
          <a:ln>
            <a:noFill/>
          </a:ln>
        </a:defRPr>
      </a:pPr>
      <a:endParaRPr lang="en-F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00D-8941-BA01-CCFEE659B106}"/>
              </c:ext>
            </c:extLst>
          </c:dPt>
          <c:dPt>
            <c:idx val="1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0D-8941-BA01-CCFEE659B10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00D-8941-BA01-CCFEE659B10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00D-8941-BA01-CCFEE659B10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CA réalisé (5,3 M$)</c:v>
                </c:pt>
                <c:pt idx="1">
                  <c:v>Paniers abandonnés (30 M$)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5.3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0D-8941-BA01-CCFEE659B1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BC64D3-5730-6F44-BBEB-1E500E8CEB5C}" authorId="{76373ABE-109C-9465-FBDD-47D0D2CE9244}" created="2026-05-06T12:01:19.295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FR"/>
          <a:t>1.Bilan de l’année 2022 : 
analysez ce qui s’est passé sur le site pendant l’année: 
- parcours client
- traffic et acquisition
- canaux publicitaires 
 les points forts et les problèmes,
- analyser performance et ROAS par canal
- le réseau social plus performante: reddit
- le paradoxe google &amp; l'analyse keywords
la stratégie d’investissement marketing
- 
</a:t>
        </a:r>
      </a:p>
    </p188:txBody>
  </p188:cm>
  <p188:cm id="{ED2A4ECD-F195-4049-8E45-AB9B9D0FB75D}" authorId="{76373ABE-109C-9465-FBDD-47D0D2CE9244}" created="2026-05-06T12:11:43.54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14" creationId="{00000000-0000-0000-0000-000000000000}"/>
      <ac:txMk cp="100">
        <ac:context len="158" hash="4265699057"/>
      </ac:txMk>
    </ac:txMkLst>
    <p188:txBody>
      <a:bodyPr/>
      <a:lstStyle/>
      <a:p>
        <a:r>
          <a:rPr lang="en-FR"/>
          <a:t>2.Vos recommandations pour l’année suivante : 
quelles sont les actions que vous allez mettre en place ? 
•Réallocation 175 k$ à enveloppe constante
Quel sera leur impact ? Soyez précis dans vos recommandations : donnez des chiffres et des preuves !
</a:t>
        </a:r>
      </a:p>
    </p188:txBody>
  </p188:cm>
  <p188:cm id="{1A6C4611-DE86-0F42-BEBD-0AA4977FAE13}" authorId="{76373ABE-109C-9465-FBDD-47D0D2CE9244}" created="2026-05-06T12:11:50.96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14" creationId="{00000000-0000-0000-0000-000000000000}"/>
      <ac:txMk cp="100">
        <ac:context len="158" hash="4265699057"/>
      </ac:txMk>
    </ac:txMkLst>
    <p188:replyLst>
      <p188:reply id="{D53E3A6F-0F21-DE41-B32F-5A387FD4C8E8}" authorId="{76373ABE-109C-9465-FBDD-47D0D2CE9244}" created="2026-05-06T12:12:34.052">
        <p188:txBody>
          <a:bodyPr/>
          <a:lstStyle/>
          <a:p>
            <a:r>
              <a:rPr lang="en-FR"/>
              <a:t>faut verifier comment il calculer???</a:t>
            </a:r>
          </a:p>
        </p188:txBody>
      </p188:reply>
    </p188:replyLst>
    <p188:txBody>
      <a:bodyPr/>
      <a:lstStyle/>
      <a:p>
        <a:r>
          <a:rPr lang="en-FR"/>
          <a:t>???</a:t>
        </a:r>
      </a:p>
    </p188:txBody>
  </p188:cm>
  <p188:cm id="{41409928-D71B-446A-9513-05D0B7BDD9D2}" authorId="{A84CAC19-E136-1A1C-A426-A5D8A4389720}" created="2026-05-06T12:16:50.653">
    <pc:sldMkLst xmlns:pc="http://schemas.microsoft.com/office/powerpoint/2013/main/command">
      <pc:docMk/>
      <pc:sldMk cId="0" sldId="258"/>
    </pc:sldMkLst>
    <p188:txBody>
      <a:bodyPr/>
      <a:lstStyle/>
      <a:p>
        <a:r>
          <a:rPr lang="fr-FR"/>
          <a:t>Le calcul — somme par canal
CanalRevenu paniers abandonnésMoteurs de recherche4 489 461,65 $Réseaux sociaux12 176 302,05 $Sites web (partenaires)11 715 435,90 $Entrées directes2 279 813,85 $Campagnes0 $TOTAL30 661 013,45 $</a:t>
        </a:r>
      </a:p>
    </p188:txBody>
  </p188:cm>
  <p188:cm id="{7372EB22-352E-0144-B0CD-4F7E91C05AA8}" authorId="{76373ABE-109C-9465-FBDD-47D0D2CE9244}" created="2026-05-06T12:48:39.465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FR"/>
          <a:t>faut mettre le parcours de clients, et les produits, services d l'entreprise propose
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CA01E1-4A96-5B44-B61A-4FDDDF2C3C4F}" authorId="{76373ABE-109C-9465-FBDD-47D0D2CE9244}" created="2026-05-07T10:30:25.2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graphicFrameMk id="10" creationId="{00000000-0000-0000-0000-000000000000}"/>
    </ac:deMkLst>
    <p188:txBody>
      <a:bodyPr/>
      <a:lstStyle/>
      <a:p>
        <a:r>
          <a:rPr lang="en-FR"/>
          <a:t>c'est mieux avec le chart plus que camembert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013D0D-0993-A142-A239-03FD99E9D491}" authorId="{76373ABE-109C-9465-FBDD-47D0D2CE9244}" created="2026-05-06T14:08:53.4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spMk id="17" creationId="{00000000-0000-0000-0000-000000000000}"/>
    </ac:deMkLst>
    <p188:txBody>
      <a:bodyPr/>
      <a:lstStyle/>
      <a:p>
        <a:endParaRPr lang="en-FR"/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043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Comment </a:t>
            </a:r>
            <a:r>
              <a:rPr lang="en-US" err="1"/>
              <a:t>calculer</a:t>
            </a:r>
            <a:r>
              <a:rPr lang="en-US"/>
              <a:t> 30 millions dollars ?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Comment </a:t>
            </a:r>
            <a:r>
              <a:rPr lang="en-US" err="1"/>
              <a:t>calculer</a:t>
            </a:r>
            <a:r>
              <a:rPr lang="en-US"/>
              <a:t> </a:t>
            </a:r>
            <a:r>
              <a:rPr lang="en-US" sz="1200">
                <a:solidFill>
                  <a:srgbClr val="FF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175 k$ </a:t>
            </a:r>
            <a:r>
              <a:rPr lang="en-US"/>
              <a:t>dollars ? </a:t>
            </a:r>
            <a:r>
              <a:rPr lang="en-US" err="1"/>
              <a:t>C’est</a:t>
            </a:r>
            <a:r>
              <a:rPr lang="en-US"/>
              <a:t> la </a:t>
            </a:r>
            <a:r>
              <a:rPr lang="en-US" err="1"/>
              <a:t>somme</a:t>
            </a:r>
            <a:r>
              <a:rPr lang="en-US"/>
              <a:t> de </a:t>
            </a:r>
            <a:r>
              <a:rPr lang="en-US" err="1"/>
              <a:t>toutes</a:t>
            </a:r>
            <a:r>
              <a:rPr lang="en-US"/>
              <a:t> de budgets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abandonné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5E2B-08A2-13C9-6A99-B15113AA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977E1-4EE8-C073-E946-6A5A80D01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9363E-2FA1-24AA-7C46-5DED64DE2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abandonné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CD004-A9F1-4A7A-2A00-D7271D8FA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63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image.png">
            <a:extLst>
              <a:ext uri="{FF2B5EF4-FFF2-40B4-BE49-F238E27FC236}">
                <a16:creationId xmlns:a16="http://schemas.microsoft.com/office/drawing/2014/main" id="{E6C107F9-43A9-F1E6-A533-236991D21F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-22411" y="0"/>
            <a:ext cx="12214411" cy="6869205"/>
          </a:xfrm>
          <a:prstGeom prst="rect">
            <a:avLst/>
          </a:prstGeom>
        </p:spPr>
      </p:pic>
      <p:pic>
        <p:nvPicPr>
          <p:cNvPr id="13" name="Image 12" descr="image.png">
            <a:extLst>
              <a:ext uri="{FF2B5EF4-FFF2-40B4-BE49-F238E27FC236}">
                <a16:creationId xmlns:a16="http://schemas.microsoft.com/office/drawing/2014/main" id="{388C2272-6AB4-D665-9803-3A5FE3A9B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2" y="324971"/>
            <a:ext cx="11586883" cy="59839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4008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</a:rPr>
              <a:t>WEBANALYTICS 2026 · BUSINESS CASE</a:t>
            </a:r>
            <a:endParaRPr lang="en-US" sz="1200">
              <a:solidFill>
                <a:schemeClr val="bg1">
                  <a:lumMod val="9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46586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DIVEZONE</a:t>
            </a:r>
            <a:endParaRPr lang="en-US" sz="720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>
                <a:solidFill>
                  <a:srgbClr val="9DB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 2022 &amp; </a:t>
            </a:r>
            <a:r>
              <a:rPr lang="en-US" sz="2600" i="1" err="1">
                <a:solidFill>
                  <a:srgbClr val="9DB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Recommandations</a:t>
            </a:r>
            <a:r>
              <a:rPr lang="en-US" sz="2600" i="1">
                <a:solidFill>
                  <a:srgbClr val="9DB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2023</a:t>
            </a:r>
            <a:endParaRPr lang="en-US" sz="260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731520" cy="4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8641080" y="249532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Cabinet</a:t>
            </a:r>
            <a:endParaRPr lang="en-US">
              <a:solidFill>
                <a:srgbClr val="9DB4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MYBG</a:t>
            </a:r>
          </a:p>
          <a:p>
            <a:pPr marL="0" indent="0">
              <a:buNone/>
            </a:pPr>
            <a:endParaRPr lang="en-US" sz="1200">
              <a:solidFill>
                <a:srgbClr val="9DB4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2064628" y="4126005"/>
            <a:ext cx="4885764" cy="118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200"/>
          </a:p>
          <a:p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Marie-Ange </a:t>
            </a:r>
            <a:r>
              <a:rPr lang="en-US" sz="1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Aké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</a:t>
            </a:r>
          </a:p>
          <a:p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Jean Philippe NIOULE</a:t>
            </a:r>
          </a:p>
          <a:p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Hai  Yen NGUYEN </a:t>
            </a:r>
            <a:endParaRPr lang="en-US" sz="16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Beni </a:t>
            </a:r>
          </a:p>
          <a:p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Ghita EL FATHY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38390" y="1576444"/>
            <a:ext cx="3200400" cy="8229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/>
          </a:p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Jean-Marc · </a:t>
            </a:r>
            <a:r>
              <a:rPr lang="en-US" sz="16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2070295" y="5943600"/>
            <a:ext cx="40327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www.divezone.net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 CLIENT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Trois voix, trois agendas — un seul budget</a:t>
            </a:r>
            <a:endParaRPr lang="en-US" sz="2600" dirty="0"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Notre mission : </a:t>
            </a:r>
            <a:r>
              <a:rPr lang="en-US" sz="13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arbitrer</a:t>
            </a:r>
            <a:r>
              <a:rPr lang="en-US" sz="13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800 000 $ entre des </a:t>
            </a:r>
            <a:r>
              <a:rPr lang="en-US" sz="13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demandes</a:t>
            </a:r>
            <a:r>
              <a:rPr lang="en-US" sz="13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souvent</a:t>
            </a: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contradictoires</a:t>
            </a:r>
            <a:endParaRPr lang="en-US" sz="1300" err="1"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6118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3611880" cy="54864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Jean-Marc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Dirigeant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800 000 $, c'est énorme. Quel ROI ? 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DEMANDE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Rentabilité du marketing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des coûts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 stratégique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2011680"/>
            <a:ext cx="36118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4343400" y="2011680"/>
            <a:ext cx="3611880" cy="5486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452628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Sonia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2628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Réseaux Sociaux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Doublez mon budget, je coupe Twitter et Reddit 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DEMANDE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42062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Doubler son budget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Concentrer sur FB/IG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Twitter et Reddit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2011680"/>
            <a:ext cx="36118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Shape 23"/>
          <p:cNvSpPr/>
          <p:nvPr/>
        </p:nvSpPr>
        <p:spPr>
          <a:xfrm>
            <a:off x="8138160" y="2011680"/>
            <a:ext cx="3611880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4"/>
          <p:cNvSpPr/>
          <p:nvPr/>
        </p:nvSpPr>
        <p:spPr>
          <a:xfrm>
            <a:off x="832104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Prakash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2104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Acquisition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Triplez Google, coupez les partenaires 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DEMANDE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11312" y="42062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Tripler Google 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les sites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</a:t>
            </a:r>
            <a:endParaRPr lang="en-US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fr-FR" sz="1200" dirty="0"/>
              <a:t>Augmenter le budget CPC sur Google.</a:t>
            </a:r>
          </a:p>
          <a:p>
            <a:br>
              <a:rPr lang="fr-FR" sz="1200" dirty="0"/>
            </a:b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DÉMARCHE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9418320" y="274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</a:t>
            </a:r>
            <a:r>
              <a:rPr lang="en-US" sz="2600" b="1" err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</a:t>
            </a:r>
            <a:r>
              <a:rPr lang="en-US" sz="2600" b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deux </a:t>
            </a:r>
            <a:r>
              <a:rPr lang="en-US" sz="2600" b="1" err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actes</a:t>
            </a:r>
            <a:endParaRPr lang="en-US" sz="260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3FA8DCF0-B17F-8806-7544-3BFD9A7C3711}"/>
              </a:ext>
            </a:extLst>
          </p:cNvPr>
          <p:cNvGrpSpPr/>
          <p:nvPr/>
        </p:nvGrpSpPr>
        <p:grpSpPr>
          <a:xfrm>
            <a:off x="259078" y="2493981"/>
            <a:ext cx="5353031" cy="3449618"/>
            <a:chOff x="584049" y="2493981"/>
            <a:chExt cx="5722823" cy="3449618"/>
          </a:xfrm>
        </p:grpSpPr>
        <p:sp>
          <p:nvSpPr>
            <p:cNvPr id="10" name="Shape 8"/>
            <p:cNvSpPr/>
            <p:nvPr/>
          </p:nvSpPr>
          <p:spPr>
            <a:xfrm>
              <a:off x="640079" y="2496884"/>
              <a:ext cx="5666793" cy="344671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27000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FR"/>
            </a:p>
          </p:txBody>
        </p:sp>
        <p:sp>
          <p:nvSpPr>
            <p:cNvPr id="11" name="Shape 9"/>
            <p:cNvSpPr/>
            <p:nvPr/>
          </p:nvSpPr>
          <p:spPr>
            <a:xfrm>
              <a:off x="584049" y="2493981"/>
              <a:ext cx="224996" cy="3449617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en-FR"/>
            </a:p>
          </p:txBody>
        </p:sp>
        <p:sp>
          <p:nvSpPr>
            <p:cNvPr id="12" name="Text 10"/>
            <p:cNvSpPr/>
            <p:nvPr/>
          </p:nvSpPr>
          <p:spPr>
            <a:xfrm>
              <a:off x="914399" y="2496884"/>
              <a:ext cx="5178277" cy="292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>
                  <a:solidFill>
                    <a:srgbClr val="1C72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ACTE 1</a:t>
              </a:r>
              <a:endParaRPr lang="en-US" sz="1100"/>
            </a:p>
          </p:txBody>
        </p:sp>
        <p:sp>
          <p:nvSpPr>
            <p:cNvPr id="13" name="Text 11"/>
            <p:cNvSpPr/>
            <p:nvPr/>
          </p:nvSpPr>
          <p:spPr>
            <a:xfrm>
              <a:off x="914399" y="2836926"/>
              <a:ext cx="5178277" cy="500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>
                  <a:solidFill>
                    <a:srgbClr val="0A3D6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Bilan 2022</a:t>
              </a:r>
              <a:endParaRPr lang="en-US" sz="3000"/>
            </a:p>
          </p:txBody>
        </p:sp>
        <p:sp>
          <p:nvSpPr>
            <p:cNvPr id="14" name="Text 12"/>
            <p:cNvSpPr/>
            <p:nvPr/>
          </p:nvSpPr>
          <p:spPr>
            <a:xfrm>
              <a:off x="914399" y="3666744"/>
              <a:ext cx="5178277" cy="20025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600"/>
                </a:spcAft>
                <a:buSzPct val="100000"/>
                <a:buFontTx/>
                <a:buChar char="•"/>
              </a:pPr>
              <a:r>
                <a:rPr lang="en-US" sz="1400" dirty="0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Volume de </a:t>
              </a:r>
              <a:r>
                <a:rPr lang="en-US" sz="1400" dirty="0" err="1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trafic</a:t>
              </a:r>
              <a:r>
                <a:rPr lang="en-US" sz="1400" dirty="0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 &amp; engagement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et ROAS par canal</a:t>
              </a:r>
              <a:endParaRPr lang="en-US" sz="14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Le </a:t>
              </a:r>
              <a:r>
                <a:rPr lang="en-US" sz="1400" dirty="0" err="1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paradoxe</a:t>
              </a:r>
              <a:r>
                <a:rPr lang="en-US" sz="1400" dirty="0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 Google &amp; </a:t>
              </a:r>
              <a:r>
                <a:rPr lang="en-US" sz="1400" dirty="0" err="1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l'analyse</a:t>
              </a:r>
              <a:r>
                <a:rPr lang="en-US" sz="1400" dirty="0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 keywords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400" dirty="0">
                  <a:latin typeface="Calibri"/>
                  <a:ea typeface="Calibri"/>
                  <a:cs typeface="Calibri"/>
                </a:rPr>
                <a:t>30 M$ de paniers </a:t>
              </a:r>
              <a:r>
                <a:rPr lang="en-US" sz="1400" dirty="0" err="1">
                  <a:latin typeface="Calibri"/>
                  <a:ea typeface="Calibri"/>
                  <a:cs typeface="Calibri"/>
                </a:rPr>
                <a:t>abandonnés</a:t>
              </a:r>
              <a:r>
                <a:rPr lang="en-US" sz="1400" dirty="0">
                  <a:latin typeface="Calibri"/>
                  <a:ea typeface="Calibri"/>
                  <a:cs typeface="Calibri"/>
                </a:rPr>
                <a:t> (10,1%) du total des </a:t>
              </a:r>
              <a:r>
                <a:rPr lang="en-US" sz="1400" dirty="0" err="1">
                  <a:latin typeface="Calibri"/>
                  <a:ea typeface="Calibri"/>
                  <a:cs typeface="Calibri"/>
                </a:rPr>
                <a:t>visites</a:t>
              </a:r>
              <a:r>
                <a:rPr lang="en-US" sz="1400" dirty="0">
                  <a:latin typeface="Calibri"/>
                  <a:ea typeface="Calibri"/>
                  <a:cs typeface="Calibri"/>
                </a:rPr>
                <a:t> </a:t>
              </a:r>
              <a:endParaRPr lang="en-US" sz="1400" dirty="0"/>
            </a:p>
          </p:txBody>
        </p:sp>
      </p:grpSp>
      <p:sp>
        <p:nvSpPr>
          <p:cNvPr id="16" name="Shape 14"/>
          <p:cNvSpPr/>
          <p:nvPr/>
        </p:nvSpPr>
        <p:spPr>
          <a:xfrm rot="5400000">
            <a:off x="5960046" y="3901343"/>
            <a:ext cx="292036" cy="341962"/>
          </a:xfrm>
          <a:prstGeom prst="rtTriangl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72E7323B-8453-84F4-6BAD-57E6E6184172}"/>
              </a:ext>
            </a:extLst>
          </p:cNvPr>
          <p:cNvGrpSpPr/>
          <p:nvPr/>
        </p:nvGrpSpPr>
        <p:grpSpPr>
          <a:xfrm>
            <a:off x="6583679" y="2493981"/>
            <a:ext cx="5275981" cy="3449618"/>
            <a:chOff x="6583679" y="2493981"/>
            <a:chExt cx="5275981" cy="3449618"/>
          </a:xfrm>
        </p:grpSpPr>
        <p:sp>
          <p:nvSpPr>
            <p:cNvPr id="17" name="Shape 15"/>
            <p:cNvSpPr/>
            <p:nvPr/>
          </p:nvSpPr>
          <p:spPr>
            <a:xfrm>
              <a:off x="6583680" y="2496884"/>
              <a:ext cx="5275980" cy="344671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27000" dist="381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FR"/>
            </a:p>
          </p:txBody>
        </p:sp>
        <p:sp>
          <p:nvSpPr>
            <p:cNvPr id="18" name="Shape 16"/>
            <p:cNvSpPr/>
            <p:nvPr/>
          </p:nvSpPr>
          <p:spPr>
            <a:xfrm>
              <a:off x="6583679" y="2493981"/>
              <a:ext cx="168966" cy="3449617"/>
            </a:xfrm>
            <a:prstGeom prst="rect">
              <a:avLst/>
            </a:prstGeom>
            <a:solidFill>
              <a:srgbClr val="00A896"/>
            </a:solidFill>
            <a:ln w="12700">
              <a:solidFill>
                <a:srgbClr val="00A896"/>
              </a:solidFill>
              <a:prstDash val="solid"/>
            </a:ln>
          </p:spPr>
          <p:txBody>
            <a:bodyPr/>
            <a:lstStyle/>
            <a:p>
              <a:endParaRPr lang="en-FR"/>
            </a:p>
          </p:txBody>
        </p:sp>
        <p:sp>
          <p:nvSpPr>
            <p:cNvPr id="19" name="Text 17"/>
            <p:cNvSpPr/>
            <p:nvPr/>
          </p:nvSpPr>
          <p:spPr>
            <a:xfrm>
              <a:off x="6858000" y="2496884"/>
              <a:ext cx="4689760" cy="292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>
                  <a:solidFill>
                    <a:srgbClr val="00A8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ACTE 2</a:t>
              </a:r>
              <a:endParaRPr lang="en-US" sz="1100"/>
            </a:p>
          </p:txBody>
        </p:sp>
        <p:sp>
          <p:nvSpPr>
            <p:cNvPr id="20" name="Text 18"/>
            <p:cNvSpPr/>
            <p:nvPr/>
          </p:nvSpPr>
          <p:spPr>
            <a:xfrm>
              <a:off x="6857999" y="2891790"/>
              <a:ext cx="4885167" cy="500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err="1">
                  <a:solidFill>
                    <a:srgbClr val="0A3D6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Recommandations</a:t>
              </a:r>
              <a:r>
                <a:rPr lang="en-US" sz="3000" b="1">
                  <a:solidFill>
                    <a:srgbClr val="0A3D6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2023</a:t>
              </a:r>
              <a:endParaRPr lang="en-US" sz="3000"/>
            </a:p>
          </p:txBody>
        </p:sp>
        <p:sp>
          <p:nvSpPr>
            <p:cNvPr id="21" name="Text 19"/>
            <p:cNvSpPr/>
            <p:nvPr/>
          </p:nvSpPr>
          <p:spPr>
            <a:xfrm>
              <a:off x="6858000" y="3666744"/>
              <a:ext cx="4689760" cy="20025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400" err="1">
                  <a:latin typeface="Calibri"/>
                  <a:ea typeface="Calibri"/>
                  <a:cs typeface="Calibri"/>
                </a:rPr>
                <a:t>Réallocation</a:t>
              </a:r>
              <a:r>
                <a:rPr lang="en-US" sz="1400">
                  <a:latin typeface="Calibri"/>
                  <a:ea typeface="Calibri"/>
                  <a:cs typeface="Calibri"/>
                </a:rPr>
                <a:t> 175 k$ à </a:t>
              </a:r>
              <a:r>
                <a:rPr lang="en-US" sz="1400" err="1">
                  <a:latin typeface="Calibri"/>
                  <a:ea typeface="Calibri"/>
                  <a:cs typeface="Calibri"/>
                </a:rPr>
                <a:t>enveloppe</a:t>
              </a:r>
              <a:r>
                <a:rPr lang="en-US" sz="1400">
                  <a:latin typeface="Calibri"/>
                  <a:ea typeface="Calibri"/>
                  <a:cs typeface="Calibri"/>
                </a:rPr>
                <a:t> </a:t>
              </a:r>
              <a:r>
                <a:rPr lang="en-US" sz="1400" err="1">
                  <a:latin typeface="Calibri"/>
                  <a:ea typeface="Calibri"/>
                  <a:cs typeface="Calibri"/>
                </a:rPr>
                <a:t>constante</a:t>
              </a:r>
              <a:r>
                <a:rPr lang="en-US" sz="1400">
                  <a:latin typeface="Calibri"/>
                  <a:ea typeface="Calibri"/>
                  <a:cs typeface="Calibri"/>
                </a:rPr>
                <a:t> </a:t>
              </a:r>
              <a:r>
                <a:rPr lang="en-US" sz="1400" i="1">
                  <a:latin typeface="Calibri"/>
                  <a:ea typeface="Calibri"/>
                  <a:cs typeface="Calibri"/>
                </a:rPr>
                <a:t>(du </a:t>
              </a:r>
              <a:r>
                <a:rPr lang="en-US" sz="1400" i="1" err="1">
                  <a:latin typeface="Calibri"/>
                  <a:ea typeface="Calibri"/>
                  <a:cs typeface="Calibri"/>
                </a:rPr>
                <a:t>bugdet</a:t>
              </a:r>
              <a:r>
                <a:rPr lang="en-US" sz="1400" i="1">
                  <a:latin typeface="Calibri"/>
                  <a:ea typeface="Calibri"/>
                  <a:cs typeface="Calibri"/>
                </a:rPr>
                <a:t> de </a:t>
              </a:r>
              <a:r>
                <a:rPr lang="en-US" sz="1400" i="1" err="1">
                  <a:latin typeface="Calibri"/>
                  <a:ea typeface="Calibri"/>
                  <a:cs typeface="Calibri"/>
                </a:rPr>
                <a:t>sonia</a:t>
              </a:r>
              <a:r>
                <a:rPr lang="en-US" sz="1400" i="1">
                  <a:latin typeface="Calibri"/>
                  <a:ea typeface="Calibri"/>
                  <a:cs typeface="Calibri"/>
                </a:rPr>
                <a:t> pour les réseaux </a:t>
              </a:r>
              <a:r>
                <a:rPr lang="en-US" sz="1400" i="1" err="1">
                  <a:latin typeface="Calibri"/>
                  <a:ea typeface="Calibri"/>
                  <a:cs typeface="Calibri"/>
                </a:rPr>
                <a:t>sociaux</a:t>
              </a:r>
              <a:r>
                <a:rPr lang="en-US" sz="1400" i="1">
                  <a:latin typeface="Calibri"/>
                  <a:ea typeface="Calibri"/>
                  <a:cs typeface="Calibri"/>
                </a:rPr>
                <a:t> et </a:t>
              </a:r>
              <a:r>
                <a:rPr lang="en-US" sz="1400" i="1" err="1">
                  <a:latin typeface="Calibri"/>
                  <a:ea typeface="Calibri"/>
                  <a:cs typeface="Calibri"/>
                </a:rPr>
                <a:t>moteurs</a:t>
              </a:r>
              <a:r>
                <a:rPr lang="en-US" sz="1400" i="1">
                  <a:latin typeface="Calibri"/>
                  <a:ea typeface="Calibri"/>
                  <a:cs typeface="Calibri"/>
                </a:rPr>
                <a:t> de </a:t>
              </a:r>
              <a:r>
                <a:rPr lang="en-US" sz="1400" i="1" err="1">
                  <a:latin typeface="Calibri"/>
                  <a:ea typeface="Calibri"/>
                  <a:cs typeface="Calibri"/>
                </a:rPr>
                <a:t>recherches</a:t>
              </a:r>
              <a:r>
                <a:rPr lang="en-US" sz="1400" i="1">
                  <a:latin typeface="Calibri"/>
                  <a:ea typeface="Calibri"/>
                  <a:cs typeface="Calibri"/>
                </a:rPr>
                <a:t>)  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400" err="1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Activer</a:t>
              </a:r>
              <a:r>
                <a:rPr lang="en-US" sz="1400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 email + retargeting (les 30 M$)</a:t>
              </a:r>
              <a:endParaRPr lang="en-US" sz="1400">
                <a:latin typeface="Calibri"/>
                <a:ea typeface="Calibri"/>
                <a:cs typeface="Calibri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Font typeface="Arial"/>
                <a:buChar char="•"/>
              </a:pPr>
              <a:r>
                <a:rPr lang="en-US" sz="1400">
                  <a:solidFill>
                    <a:srgbClr val="1A1A1A"/>
                  </a:solidFill>
                  <a:latin typeface="Calibri"/>
                  <a:ea typeface="Calibri"/>
                  <a:cs typeface="Calibri"/>
                </a:rPr>
                <a:t>Roadmap 2023 &amp; kpi cibles</a:t>
              </a: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48BC209-3D38-F146-C7E5-D7007A9C85E3}"/>
              </a:ext>
            </a:extLst>
          </p:cNvPr>
          <p:cNvSpPr txBox="1"/>
          <p:nvPr/>
        </p:nvSpPr>
        <p:spPr>
          <a:xfrm>
            <a:off x="11674929" y="45393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· BILAN 2022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trafic massif, mais un engagement qui décroche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M de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et 65 % qui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repartent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91440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 M</a:t>
            </a:r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219456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3"/>
          <p:cNvSpPr/>
          <p:nvPr/>
        </p:nvSpPr>
        <p:spPr>
          <a:xfrm>
            <a:off x="3383280" y="2194560"/>
            <a:ext cx="91440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5,3 M$</a:t>
            </a:r>
            <a:endParaRPr lang="en-US" sz="3600"/>
          </a:p>
        </p:txBody>
      </p:sp>
      <p:sp>
        <p:nvSpPr>
          <p:cNvPr id="17" name="Text 15"/>
          <p:cNvSpPr/>
          <p:nvPr/>
        </p:nvSpPr>
        <p:spPr>
          <a:xfrm>
            <a:off x="356616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e-commerce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91440" cy="1554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65 %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rebond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3383280" y="393192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Shape 21"/>
          <p:cNvSpPr/>
          <p:nvPr/>
        </p:nvSpPr>
        <p:spPr>
          <a:xfrm>
            <a:off x="3383280" y="3931920"/>
            <a:ext cx="91440" cy="1554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2"/>
          <p:cNvSpPr/>
          <p:nvPr/>
        </p:nvSpPr>
        <p:spPr>
          <a:xfrm>
            <a:off x="3566160" y="4069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M$</a:t>
            </a:r>
            <a:endParaRPr lang="en-US" sz="3600"/>
          </a:p>
        </p:txBody>
      </p:sp>
      <p:sp>
        <p:nvSpPr>
          <p:cNvPr id="25" name="Text 23"/>
          <p:cNvSpPr/>
          <p:nvPr/>
        </p:nvSpPr>
        <p:spPr>
          <a:xfrm>
            <a:off x="3566160" y="4983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Paniers abandonnés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6400800" y="2194560"/>
            <a:ext cx="5120640" cy="329184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84577" y="219814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lecture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629400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trafic ne manque pas — c'est la conversion qui fait défaut.</a:t>
            </a:r>
            <a:endParaRPr lang="en-US" sz="1700"/>
          </a:p>
        </p:txBody>
      </p:sp>
      <p:sp>
        <p:nvSpPr>
          <p:cNvPr id="29" name="Text 27"/>
          <p:cNvSpPr/>
          <p:nvPr/>
        </p:nvSpPr>
        <p:spPr>
          <a:xfrm>
            <a:off x="6629400" y="39319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→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Taux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rebond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:  65 %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global , 78 %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SEA, 86 %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direct (SEO)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→ Pour 1 $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encaissé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, 5,75 $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panier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abandonné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Aucun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dispositif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de relance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n'est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 mis place ( 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possibilité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de faire du marketing de relance, via </a:t>
            </a:r>
            <a:r>
              <a:rPr lang="en-US" sz="1300" dirty="0" err="1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l'emailing</a:t>
            </a:r>
            <a:r>
              <a:rPr lang="en-US" sz="1300" dirty="0">
                <a:solidFill>
                  <a:srgbClr val="9DB4C0"/>
                </a:solidFill>
                <a:latin typeface="Calibri"/>
                <a:ea typeface="Calibri"/>
                <a:cs typeface="Calibri"/>
              </a:rPr>
              <a:t> CRM) 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Matomo Divezone — 1ᵉʳ janvier au 31 décembre 2022</a:t>
            </a:r>
            <a:endParaRPr lang="en-US" sz="90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21EEDA32-8F31-59AF-AB85-8C392EFD74B8}"/>
              </a:ext>
            </a:extLst>
          </p:cNvPr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ea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· BILAN 2022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ea typeface="Calibri"/>
                <a:cs typeface="Calibri"/>
              </a:rPr>
              <a:t>6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D'où</a:t>
            </a:r>
            <a:r>
              <a:rPr lang="en-US" sz="2600" b="1" dirty="0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viennent</a:t>
            </a:r>
            <a:r>
              <a:rPr lang="en-US" sz="2600" b="1" dirty="0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 les 1,3 M de </a:t>
            </a:r>
            <a:r>
              <a:rPr lang="en-US" sz="2600" b="1" dirty="0" err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visites</a:t>
            </a:r>
            <a:r>
              <a:rPr lang="en-US" sz="2600" b="1" dirty="0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 ?  (ROAS de canal)</a:t>
            </a:r>
            <a:endParaRPr lang="en-US" sz="2600" dirty="0"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Comparaison</a:t>
            </a: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Divezone</a:t>
            </a:r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876865597"/>
              </p:ext>
            </p:extLst>
          </p:nvPr>
        </p:nvGraphicFramePr>
        <p:xfrm>
          <a:off x="360680" y="1897380"/>
          <a:ext cx="5135880" cy="2481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757444"/>
            <a:ext cx="3566160" cy="97184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9"/>
          <p:cNvSpPr/>
          <p:nvPr/>
        </p:nvSpPr>
        <p:spPr>
          <a:xfrm>
            <a:off x="594360" y="4886642"/>
            <a:ext cx="331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4A261"/>
                </a:solidFill>
                <a:latin typeface="Georgia"/>
                <a:ea typeface="Georgia" pitchFamily="34" charset="-122"/>
                <a:cs typeface="Georgia" pitchFamily="34" charset="-120"/>
              </a:rPr>
              <a:t>Search engines : sur-</a:t>
            </a:r>
            <a:r>
              <a:rPr lang="en-US" sz="1600" b="1" err="1">
                <a:solidFill>
                  <a:srgbClr val="F4A261"/>
                </a:solidFill>
                <a:latin typeface="Georgia"/>
                <a:ea typeface="Georgia" pitchFamily="34" charset="-122"/>
                <a:cs typeface="Georgia" pitchFamily="34" charset="-120"/>
              </a:rPr>
              <a:t>pondéré</a:t>
            </a:r>
            <a:r>
              <a:rPr lang="en-US" sz="1600" b="1">
                <a:solidFill>
                  <a:srgbClr val="F4A261"/>
                </a:solidFill>
                <a:latin typeface="Georgia"/>
                <a:ea typeface="Georgia" pitchFamily="34" charset="-122"/>
                <a:cs typeface="Georgia" pitchFamily="34" charset="-120"/>
              </a:rPr>
              <a:t> </a:t>
            </a:r>
            <a:endParaRPr lang="en-US" sz="1600" b="1">
              <a:solidFill>
                <a:srgbClr val="F4A261"/>
              </a:solidFill>
              <a:latin typeface="Georgi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4360" y="5184751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54 % chez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Divezone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 vs 44 %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marché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dépendance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 forte à google ( 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donimation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prépodérante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 de google)</a:t>
            </a:r>
          </a:p>
        </p:txBody>
      </p:sp>
      <p:sp>
        <p:nvSpPr>
          <p:cNvPr id="14" name="Shape 11"/>
          <p:cNvSpPr/>
          <p:nvPr/>
        </p:nvSpPr>
        <p:spPr>
          <a:xfrm>
            <a:off x="4269739" y="4651828"/>
            <a:ext cx="3804921" cy="106584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2"/>
          <p:cNvSpPr/>
          <p:nvPr/>
        </p:nvSpPr>
        <p:spPr>
          <a:xfrm>
            <a:off x="4452619" y="4743268"/>
            <a:ext cx="34391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Réseaux </a:t>
            </a:r>
            <a:r>
              <a:rPr lang="en-US" sz="1600" b="1" err="1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sociaux</a:t>
            </a:r>
            <a:r>
              <a:rPr lang="en-US" sz="1600" b="1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sous- </a:t>
            </a:r>
            <a:r>
              <a:rPr lang="en-US" sz="1600" b="1" err="1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pondéré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4452619" y="5109028"/>
            <a:ext cx="3022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20 % chez </a:t>
            </a:r>
            <a:r>
              <a:rPr lang="en-US" sz="11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Divezone</a:t>
            </a:r>
            <a:r>
              <a:rPr lang="en-US" sz="11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vs 27 % </a:t>
            </a:r>
            <a:r>
              <a:rPr lang="en-US" sz="11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marché</a:t>
            </a:r>
            <a:r>
              <a:rPr lang="en-US" sz="11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1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potentiel</a:t>
            </a:r>
            <a:r>
              <a:rPr lang="en-US" sz="11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à </a:t>
            </a:r>
            <a:r>
              <a:rPr lang="en-US" sz="1100" i="1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activer</a:t>
            </a:r>
            <a:r>
              <a:rPr lang="en-US" sz="11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1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257540" y="4700587"/>
            <a:ext cx="3804921" cy="10286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5"/>
          <p:cNvSpPr/>
          <p:nvPr/>
        </p:nvSpPr>
        <p:spPr>
          <a:xfrm>
            <a:off x="8440420" y="4681243"/>
            <a:ext cx="4298657" cy="31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&amp; affiliation : 0 %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8440421" y="5183162"/>
            <a:ext cx="3622040" cy="553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latin typeface="Calibri"/>
                <a:ea typeface="Calibri"/>
                <a:cs typeface="Calibri"/>
              </a:rPr>
              <a:t>Vs 10 % du </a:t>
            </a:r>
            <a:r>
              <a:rPr lang="en-US" sz="1100" i="1" dirty="0" err="1">
                <a:latin typeface="Calibri"/>
                <a:ea typeface="Calibri"/>
                <a:cs typeface="Calibri"/>
              </a:rPr>
              <a:t>marché</a:t>
            </a:r>
            <a:r>
              <a:rPr lang="en-US" sz="1100" i="1" dirty="0">
                <a:latin typeface="Calibri"/>
                <a:ea typeface="Calibri"/>
                <a:cs typeface="Calibri"/>
              </a:rPr>
              <a:t> — </a:t>
            </a:r>
            <a:r>
              <a:rPr lang="en-US" sz="1100" i="1" dirty="0" err="1">
                <a:latin typeface="Calibri"/>
                <a:ea typeface="Calibri"/>
                <a:cs typeface="Calibri"/>
              </a:rPr>
              <a:t>opportunité</a:t>
            </a:r>
            <a:r>
              <a:rPr lang="en-US" sz="1100" i="1" dirty="0">
                <a:latin typeface="Calibri"/>
                <a:ea typeface="Calibri"/>
                <a:cs typeface="Calibri"/>
              </a:rPr>
              <a:t> majeure </a:t>
            </a:r>
            <a:r>
              <a:rPr lang="en-US" sz="1100" i="1" dirty="0" err="1">
                <a:latin typeface="Calibri"/>
                <a:ea typeface="Calibri"/>
                <a:cs typeface="Calibri"/>
              </a:rPr>
              <a:t>absente</a:t>
            </a:r>
            <a:r>
              <a:rPr lang="en-US" sz="1100" i="1" dirty="0">
                <a:latin typeface="Calibri"/>
                <a:ea typeface="Calibri"/>
                <a:cs typeface="Calibri"/>
              </a:rPr>
              <a:t> du mix marketing </a:t>
            </a:r>
          </a:p>
          <a:p>
            <a:r>
              <a:rPr lang="en-FR" sz="1200" dirty="0"/>
              <a:t>Sources : Matomo Divezone 2022 (Type de canal) ; Observatoire E-publicité SRI / Oliver Wyman 2023.</a:t>
            </a:r>
            <a:endParaRPr lang="en-FR" sz="12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</a:t>
            </a:r>
            <a:r>
              <a:rPr lang="en-US" sz="900" i="1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Matomo</a:t>
            </a: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</a:t>
            </a: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2022 · Benchmark : Observatoire e-</a:t>
            </a:r>
            <a:r>
              <a:rPr lang="en-US" sz="900" i="1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publicité</a:t>
            </a: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SRI / Oliver Wyman 2023</a:t>
            </a:r>
            <a:endParaRPr lang="en-US" sz="90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A2C2594E-8E0A-2365-8F1C-15F65AC79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843743"/>
              </p:ext>
            </p:extLst>
          </p:nvPr>
        </p:nvGraphicFramePr>
        <p:xfrm>
          <a:off x="5643880" y="2057400"/>
          <a:ext cx="6187438" cy="2194561"/>
        </p:xfrm>
        <a:graphic>
          <a:graphicData uri="http://schemas.openxmlformats.org/drawingml/2006/table">
            <a:tbl>
              <a:tblPr/>
              <a:tblGrid>
                <a:gridCol w="907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75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Visites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Rebond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 </a:t>
                      </a:r>
                      <a:r>
                        <a:rPr lang="en-US" sz="1200" b="1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réalisé</a:t>
                      </a:r>
                      <a:endParaRPr lang="en-US" sz="12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Sites </a:t>
                      </a:r>
                      <a:r>
                        <a:rPr lang="en-US" sz="1100" b="1" err="1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partenaires</a:t>
                      </a:r>
                      <a:endParaRPr lang="en-US" sz="11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k$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189 463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1 638 860 $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Performant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248629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latin typeface="Calibri"/>
                          <a:ea typeface="Calibri"/>
                          <a:cs typeface="Calibri"/>
                        </a:rPr>
                        <a:t>Réseaux </a:t>
                      </a:r>
                      <a:r>
                        <a:rPr lang="en-US" sz="1100" b="1" err="1">
                          <a:latin typeface="Calibri"/>
                          <a:ea typeface="Calibri"/>
                          <a:cs typeface="Calibri"/>
                        </a:rPr>
                        <a:t>sociaux</a:t>
                      </a:r>
                      <a:endParaRPr lang="en-US" sz="11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latin typeface="Calibri" charset="0"/>
                          <a:ea typeface="Calibri" charset="0"/>
                          <a:cs typeface="Calibri" charset="0"/>
                        </a:rPr>
                        <a:t>400 k</a:t>
                      </a: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latin typeface="Calibri" charset="0"/>
                          <a:ea typeface="Calibri" charset="0"/>
                          <a:cs typeface="Calibri" charset="0"/>
                        </a:rPr>
                        <a:t>705824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latin typeface="Calibri" charset="0"/>
                          <a:ea typeface="Calibri" charset="0"/>
                          <a:cs typeface="Calibri" charset="0"/>
                        </a:rPr>
                        <a:t>38%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100" b="0" i="0">
                          <a:solidFill>
                            <a:srgbClr val="21212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2 512 299.35$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>
                          <a:solidFill>
                            <a:schemeClr val="accent4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6,28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accent4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global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k$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709 580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579 610 $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</a:rPr>
                        <a:t>⚠️ Volume sans </a:t>
                      </a:r>
                      <a:r>
                        <a:rPr lang="en-US" sz="1100" b="1" i="1" dirty="0" err="1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</a:rPr>
                        <a:t>qualité</a:t>
                      </a:r>
                      <a:endParaRPr lang="en-US"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· ZOOM RÉSEAUX SOCIAUX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ea typeface="Calibri"/>
                <a:cs typeface="Calibri"/>
              </a:rPr>
              <a:t>6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Reddit, la </a:t>
            </a:r>
            <a:r>
              <a:rPr lang="en-US" sz="2600" b="1" err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pépite</a:t>
            </a:r>
            <a:r>
              <a:rPr lang="en-US" sz="2600" b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 et </a:t>
            </a:r>
            <a:r>
              <a:rPr lang="en-US" sz="2600" b="1" err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chaque</a:t>
            </a:r>
            <a:r>
              <a:rPr lang="en-US" sz="2600" b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 réseau a son </a:t>
            </a:r>
            <a:r>
              <a:rPr lang="en-US" sz="2600" b="1" err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rôle</a:t>
            </a:r>
            <a:endParaRPr lang="en-US" sz="2600"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stratégie en funnel, pas un canal qu'on coupe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906519" y="4408424"/>
            <a:ext cx="7660641" cy="15351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4074155" y="4408424"/>
            <a:ext cx="14427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24,5</a:t>
            </a:r>
            <a:endParaRPr lang="en-US" sz="4000"/>
          </a:p>
        </p:txBody>
      </p:sp>
      <p:sp>
        <p:nvSpPr>
          <p:cNvPr id="12" name="Text 10"/>
          <p:cNvSpPr/>
          <p:nvPr/>
        </p:nvSpPr>
        <p:spPr>
          <a:xfrm>
            <a:off x="4074155" y="5018024"/>
            <a:ext cx="1442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Reddit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074155" y="524662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1,22 M$ pour 50 k$ — 23 % du CA social pour 6 % du budget social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3" y="4549141"/>
            <a:ext cx="3749040" cy="12801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7909563" y="4640581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Garde-fou intellectuel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7909563" y="4960621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ROAS 24,5 est probablement surestimé par le last-click. Reddit ouvre souvent le parcours — sa contribution réelle reste exceptionnelle.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25780" y="1804416"/>
            <a:ext cx="4635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RÉSEAU SOCIAL JOUE UN RÔLE DIFFÉRENT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87676" y="2377440"/>
            <a:ext cx="3281683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Shape 17"/>
          <p:cNvSpPr/>
          <p:nvPr/>
        </p:nvSpPr>
        <p:spPr>
          <a:xfrm>
            <a:off x="487677" y="2377440"/>
            <a:ext cx="45719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670557" y="2468880"/>
            <a:ext cx="28329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err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NOTORIÉTÉ</a:t>
            </a:r>
            <a:r>
              <a:rPr lang="en-US" sz="1100" b="1" kern="0" spc="30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· </a:t>
            </a:r>
            <a:r>
              <a:rPr lang="en-US" sz="1100" b="1" kern="0" spc="300" err="1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Découverte</a:t>
            </a:r>
            <a:endParaRPr lang="en-US" sz="1100" err="1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557" y="2788920"/>
            <a:ext cx="296841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(ROAS 2,6 — engagement 3,5 %)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670557" y="3090672"/>
            <a:ext cx="21587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Faible</a:t>
            </a: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conversion </a:t>
            </a:r>
            <a:r>
              <a:rPr lang="en-US" sz="11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mais</a:t>
            </a: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haute </a:t>
            </a:r>
            <a:r>
              <a:rPr lang="en-US" sz="11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visibilité</a:t>
            </a: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—  il faut </a:t>
            </a:r>
            <a:r>
              <a:rPr lang="en-US" sz="11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réduire</a:t>
            </a: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le  budget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87677" y="3611880"/>
            <a:ext cx="328168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Shape 22"/>
          <p:cNvSpPr/>
          <p:nvPr/>
        </p:nvSpPr>
        <p:spPr>
          <a:xfrm>
            <a:off x="487677" y="3611880"/>
            <a:ext cx="109728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3"/>
          <p:cNvSpPr/>
          <p:nvPr/>
        </p:nvSpPr>
        <p:spPr>
          <a:xfrm>
            <a:off x="670557" y="3703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CONSIDÉRATION · Comparaison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70557" y="4023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(ROAS 3,7) · Pinterest (3,2)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670557" y="4325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affinitaire qui prépare la décision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487677" y="4846320"/>
            <a:ext cx="328168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9" name="Shape 27"/>
          <p:cNvSpPr/>
          <p:nvPr/>
        </p:nvSpPr>
        <p:spPr>
          <a:xfrm>
            <a:off x="487677" y="4846320"/>
            <a:ext cx="109728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8"/>
          <p:cNvSpPr/>
          <p:nvPr/>
        </p:nvSpPr>
        <p:spPr>
          <a:xfrm>
            <a:off x="670557" y="49377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· Achat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670557" y="5257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(ROAS 6,7) · Reddit (24,5)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670557" y="55595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chaud à fort taux de transformation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846320" y="6080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Sonia </a:t>
            </a:r>
            <a:r>
              <a:rPr lang="en-US" sz="1100" i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voulait</a:t>
            </a: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</a:t>
            </a: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Twitter et Reddit. La donnée </a:t>
            </a:r>
            <a:r>
              <a:rPr lang="en-US" sz="1100" i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</a:t>
            </a: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l'inverse</a:t>
            </a: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100" i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</a:t>
            </a: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100" i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</a:t>
            </a:r>
            <a:r>
              <a:rPr lang="en-US" sz="11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ROAS du social.</a:t>
            </a:r>
            <a:endParaRPr lang="en-US" sz="1100" dirty="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2990CD44-89A3-562B-41BC-3564C8DF1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333364"/>
              </p:ext>
            </p:extLst>
          </p:nvPr>
        </p:nvGraphicFramePr>
        <p:xfrm>
          <a:off x="3906519" y="2280412"/>
          <a:ext cx="8148319" cy="2011680"/>
        </p:xfrm>
        <a:graphic>
          <a:graphicData uri="http://schemas.openxmlformats.org/drawingml/2006/table">
            <a:tbl>
              <a:tblPr/>
              <a:tblGrid>
                <a:gridCol w="1126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9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7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82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Rebond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réalisé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Reddit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k$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121 883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1 222 734 $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 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Pépite (* </a:t>
                      </a:r>
                      <a:r>
                        <a:rPr lang="en-US" sz="1100" b="1" i="1" err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biais</a:t>
                      </a:r>
                      <a:r>
                        <a:rPr lang="en-US" sz="1100" b="1" i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last-click?)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Twitter / 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k$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33 417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335 391 $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À conserver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37 084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372 602 $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À optimiser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Pinterest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33 964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319 053 $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Réduire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33 010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262 518 $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Awareness — pas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100" b="1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lang="en-US" sz="11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lang="en-US" sz="11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lang="en-US" sz="11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lang="en-US" sz="11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lang="en-US" sz="1300" b="1">
                        <a:solidFill>
                          <a:srgbClr val="E76F5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568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01440" cy="68580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3" name="Shape 1"/>
          <p:cNvSpPr/>
          <p:nvPr/>
        </p:nvSpPr>
        <p:spPr>
          <a:xfrm>
            <a:off x="3901440" y="0"/>
            <a:ext cx="8290560" cy="670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4" name="Text 2"/>
          <p:cNvSpPr/>
          <p:nvPr/>
        </p:nvSpPr>
        <p:spPr>
          <a:xfrm>
            <a:off x="4023360" y="6096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FFFFFF"/>
                </a:solidFill>
              </a:rPr>
              <a:t>ATTRIBUTION MULTITOUCH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304800"/>
            <a:ext cx="1341120" cy="13411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6" name="Text 4"/>
          <p:cNvSpPr/>
          <p:nvPr/>
        </p:nvSpPr>
        <p:spPr>
          <a:xfrm>
            <a:off x="1280160" y="341376"/>
            <a:ext cx="1341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000000"/>
                </a:solidFill>
              </a:rPr>
              <a:t>🤿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1920" y="1731264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kern="0" spc="533" dirty="0">
                <a:solidFill>
                  <a:srgbClr val="00A896"/>
                </a:solidFill>
              </a:rPr>
              <a:t>DIVEZONE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121920" y="2133600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A8C5D6"/>
                </a:solidFill>
              </a:rPr>
              <a:t>dive-shop.net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35936"/>
            <a:ext cx="316992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10" name="Shape 8"/>
          <p:cNvSpPr/>
          <p:nvPr/>
        </p:nvSpPr>
        <p:spPr>
          <a:xfrm>
            <a:off x="182880" y="2706624"/>
            <a:ext cx="3535680" cy="585216"/>
          </a:xfrm>
          <a:prstGeom prst="rect">
            <a:avLst/>
          </a:prstGeom>
          <a:solidFill>
            <a:srgbClr val="03283F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11" name="Text 9"/>
          <p:cNvSpPr/>
          <p:nvPr/>
        </p:nvSpPr>
        <p:spPr>
          <a:xfrm>
            <a:off x="268224" y="2731008"/>
            <a:ext cx="336499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8C5D6"/>
                </a:solidFill>
              </a:rPr>
              <a:t>Parcours d'achat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8224" y="2974848"/>
            <a:ext cx="336499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5 canaux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182880" y="3413760"/>
            <a:ext cx="3535680" cy="585216"/>
          </a:xfrm>
          <a:prstGeom prst="rect">
            <a:avLst/>
          </a:prstGeom>
          <a:solidFill>
            <a:srgbClr val="03283F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14" name="Text 12"/>
          <p:cNvSpPr/>
          <p:nvPr/>
        </p:nvSpPr>
        <p:spPr>
          <a:xfrm>
            <a:off x="268224" y="3438144"/>
            <a:ext cx="336499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8C5D6"/>
                </a:solidFill>
              </a:rPr>
              <a:t>Budget total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8224" y="3681984"/>
            <a:ext cx="336499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800 k$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182880" y="4120896"/>
            <a:ext cx="3535680" cy="585216"/>
          </a:xfrm>
          <a:prstGeom prst="rect">
            <a:avLst/>
          </a:prstGeom>
          <a:solidFill>
            <a:srgbClr val="03283F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17" name="Text 15"/>
          <p:cNvSpPr/>
          <p:nvPr/>
        </p:nvSpPr>
        <p:spPr>
          <a:xfrm>
            <a:off x="268224" y="4145280"/>
            <a:ext cx="336499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8C5D6"/>
                </a:solidFill>
              </a:rPr>
              <a:t>CA e-commerce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8224" y="4389120"/>
            <a:ext cx="336499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5,3 M$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182880" y="4828032"/>
            <a:ext cx="3535680" cy="585216"/>
          </a:xfrm>
          <a:prstGeom prst="rect">
            <a:avLst/>
          </a:prstGeom>
          <a:solidFill>
            <a:srgbClr val="03283F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20" name="Text 18"/>
          <p:cNvSpPr/>
          <p:nvPr/>
        </p:nvSpPr>
        <p:spPr>
          <a:xfrm>
            <a:off x="268224" y="4852416"/>
            <a:ext cx="336499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8C5D6"/>
                </a:solidFill>
              </a:rPr>
              <a:t>ROAS Reddit 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8224" y="5096256"/>
            <a:ext cx="336499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24,5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182880" y="5535168"/>
            <a:ext cx="3535680" cy="585216"/>
          </a:xfrm>
          <a:prstGeom prst="rect">
            <a:avLst/>
          </a:prstGeom>
          <a:solidFill>
            <a:srgbClr val="03283F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23" name="Text 21"/>
          <p:cNvSpPr/>
          <p:nvPr/>
        </p:nvSpPr>
        <p:spPr>
          <a:xfrm>
            <a:off x="268224" y="5559552"/>
            <a:ext cx="336499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A8C5D6"/>
                </a:solidFill>
              </a:rPr>
              <a:t>Paniers abandonnés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8224" y="5803392"/>
            <a:ext cx="336499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30 M$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4023360" y="755904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21B33"/>
                </a:solidFill>
              </a:rPr>
              <a:t>L'Analyse Multitouch</a:t>
            </a:r>
            <a:endParaRPr lang="en-US" sz="3467" dirty="0"/>
          </a:p>
        </p:txBody>
      </p:sp>
      <p:sp>
        <p:nvSpPr>
          <p:cNvPr id="26" name="Text 24"/>
          <p:cNvSpPr/>
          <p:nvPr/>
        </p:nvSpPr>
        <p:spPr>
          <a:xfrm>
            <a:off x="4023360" y="1402080"/>
            <a:ext cx="7924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446678"/>
                </a:solidFill>
              </a:rPr>
              <a:t>Les modèles d'attribution des ventes — Divezone 2022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4084320" y="1853184"/>
            <a:ext cx="1438656" cy="950976"/>
          </a:xfrm>
          <a:prstGeom prst="rect">
            <a:avLst/>
          </a:prstGeom>
          <a:solidFill>
            <a:srgbClr val="9C59D1"/>
          </a:solidFill>
          <a:ln w="12700">
            <a:solidFill>
              <a:srgbClr val="9C59D1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28" name="Text 26"/>
          <p:cNvSpPr/>
          <p:nvPr/>
        </p:nvSpPr>
        <p:spPr>
          <a:xfrm>
            <a:off x="4084320" y="1889760"/>
            <a:ext cx="143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FFFFFF"/>
                </a:solidFill>
              </a:rPr>
              <a:t>Click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84320" y="2097024"/>
            <a:ext cx="14386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Instagram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84320" y="2487168"/>
            <a:ext cx="14386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err="1">
                <a:solidFill>
                  <a:schemeClr val="bg1"/>
                </a:solidFill>
              </a:rPr>
              <a:t>Notoriété</a:t>
            </a:r>
            <a:endParaRPr lang="fr-FR" err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522976" y="2328672"/>
            <a:ext cx="7315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32" name="Shape 30"/>
          <p:cNvSpPr/>
          <p:nvPr/>
        </p:nvSpPr>
        <p:spPr>
          <a:xfrm>
            <a:off x="5596128" y="1853184"/>
            <a:ext cx="1438656" cy="950976"/>
          </a:xfrm>
          <a:prstGeom prst="rect">
            <a:avLst/>
          </a:prstGeom>
          <a:solidFill>
            <a:srgbClr val="E8447E"/>
          </a:solidFill>
          <a:ln w="12700">
            <a:solidFill>
              <a:srgbClr val="E8447E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33" name="Text 31"/>
          <p:cNvSpPr/>
          <p:nvPr/>
        </p:nvSpPr>
        <p:spPr>
          <a:xfrm>
            <a:off x="5596128" y="1889760"/>
            <a:ext cx="143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FFFFFF"/>
                </a:solidFill>
              </a:rPr>
              <a:t>Click 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96128" y="2097024"/>
            <a:ext cx="14386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Pinterest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96128" y="2487168"/>
            <a:ext cx="14386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Découverte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34784" y="2328672"/>
            <a:ext cx="7315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37" name="Shape 35"/>
          <p:cNvSpPr/>
          <p:nvPr/>
        </p:nvSpPr>
        <p:spPr>
          <a:xfrm>
            <a:off x="7107936" y="1853184"/>
            <a:ext cx="1438656" cy="9509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38" name="Text 36"/>
          <p:cNvSpPr/>
          <p:nvPr/>
        </p:nvSpPr>
        <p:spPr>
          <a:xfrm>
            <a:off x="7107936" y="1889760"/>
            <a:ext cx="143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FFFFFF"/>
                </a:solidFill>
              </a:rPr>
              <a:t>Click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07936" y="2097024"/>
            <a:ext cx="14386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Sites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</a:rPr>
              <a:t>part.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07936" y="2487168"/>
            <a:ext cx="14386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Comparaison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46592" y="2328672"/>
            <a:ext cx="7315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42" name="Shape 40"/>
          <p:cNvSpPr/>
          <p:nvPr/>
        </p:nvSpPr>
        <p:spPr>
          <a:xfrm>
            <a:off x="8619744" y="1853184"/>
            <a:ext cx="1438656" cy="950976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43" name="Text 41"/>
          <p:cNvSpPr/>
          <p:nvPr/>
        </p:nvSpPr>
        <p:spPr>
          <a:xfrm>
            <a:off x="8619744" y="1889760"/>
            <a:ext cx="143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FFFFFF"/>
                </a:solidFill>
              </a:rPr>
              <a:t>Click 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19744" y="2097024"/>
            <a:ext cx="14386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Twitter/X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619744" y="2487168"/>
            <a:ext cx="14386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Intention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058400" y="2328672"/>
            <a:ext cx="7315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47" name="Shape 45"/>
          <p:cNvSpPr/>
          <p:nvPr/>
        </p:nvSpPr>
        <p:spPr>
          <a:xfrm>
            <a:off x="10131552" y="1853184"/>
            <a:ext cx="1438656" cy="950976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48" name="Text 46"/>
          <p:cNvSpPr/>
          <p:nvPr/>
        </p:nvSpPr>
        <p:spPr>
          <a:xfrm>
            <a:off x="10131552" y="1889760"/>
            <a:ext cx="143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solidFill>
                  <a:srgbClr val="FFFFFF"/>
                </a:solidFill>
              </a:rPr>
              <a:t>Click 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31552" y="2097024"/>
            <a:ext cx="143865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Reddit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131552" y="2487168"/>
            <a:ext cx="14386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Conversion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408664" y="199872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Achat
</a:t>
            </a:r>
            <a:r>
              <a:rPr lang="en-US" sz="1733" b="1" dirty="0">
                <a:solidFill>
                  <a:srgbClr val="FFFFFF"/>
                </a:solidFill>
              </a:rPr>
              <a:t>400 €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643360" y="2328672"/>
            <a:ext cx="73152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54" name="Text 52"/>
          <p:cNvSpPr/>
          <p:nvPr/>
        </p:nvSpPr>
        <p:spPr>
          <a:xfrm>
            <a:off x="4023360" y="3023616"/>
            <a:ext cx="8046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21B33"/>
                </a:solidFill>
              </a:rPr>
              <a:t>Modèles d'attribution appliqués aux 5 canaux Divezone</a:t>
            </a:r>
            <a:endParaRPr lang="en-US" sz="1267" dirty="0"/>
          </a:p>
        </p:txBody>
      </p:sp>
      <p:sp>
        <p:nvSpPr>
          <p:cNvPr id="55" name="Shape 53"/>
          <p:cNvSpPr/>
          <p:nvPr/>
        </p:nvSpPr>
        <p:spPr>
          <a:xfrm>
            <a:off x="4023360" y="3413760"/>
            <a:ext cx="8071104" cy="36576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56" name="Text 54"/>
          <p:cNvSpPr/>
          <p:nvPr/>
        </p:nvSpPr>
        <p:spPr>
          <a:xfrm>
            <a:off x="4023360" y="3413760"/>
            <a:ext cx="99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Modèle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59680" y="34137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Instagram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20384" y="34137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Pinterest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168896" y="34137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Sites part.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17408" y="34137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Twitter/X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265920" y="341376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Reddit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387584" y="3413760"/>
            <a:ext cx="1731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Formule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023360" y="3779520"/>
            <a:ext cx="8071104" cy="438912"/>
          </a:xfrm>
          <a:prstGeom prst="rect">
            <a:avLst/>
          </a:prstGeom>
          <a:solidFill>
            <a:srgbClr val="F5FBFD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64" name="Text 62"/>
          <p:cNvSpPr/>
          <p:nvPr/>
        </p:nvSpPr>
        <p:spPr>
          <a:xfrm>
            <a:off x="4084320" y="3779520"/>
            <a:ext cx="93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021B33"/>
                </a:solidFill>
              </a:rPr>
              <a:t>First click</a:t>
            </a:r>
            <a:endParaRPr lang="en-US" sz="1133" dirty="0"/>
          </a:p>
        </p:txBody>
      </p:sp>
      <p:sp>
        <p:nvSpPr>
          <p:cNvPr id="65" name="Shape 63"/>
          <p:cNvSpPr/>
          <p:nvPr/>
        </p:nvSpPr>
        <p:spPr>
          <a:xfrm>
            <a:off x="5327904" y="3755136"/>
            <a:ext cx="487680" cy="487680"/>
          </a:xfrm>
          <a:prstGeom prst="ellipse">
            <a:avLst/>
          </a:prstGeom>
          <a:solidFill>
            <a:srgbClr val="9C59D1"/>
          </a:solidFill>
          <a:ln w="6350">
            <a:solidFill>
              <a:srgbClr val="9C59D1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66" name="Text 64"/>
          <p:cNvSpPr/>
          <p:nvPr/>
        </p:nvSpPr>
        <p:spPr>
          <a:xfrm>
            <a:off x="6449568" y="3877056"/>
            <a:ext cx="365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ABBCC"/>
                </a:solidFill>
              </a:rPr>
              <a:t>—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498080" y="3877056"/>
            <a:ext cx="365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ABBCC"/>
                </a:solidFill>
              </a:rPr>
              <a:t>—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546592" y="3877056"/>
            <a:ext cx="365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ABBCC"/>
                </a:solidFill>
              </a:rPr>
              <a:t>—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595104" y="3877056"/>
            <a:ext cx="365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ABBCC"/>
                </a:solidFill>
              </a:rPr>
              <a:t>—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436352" y="3779520"/>
            <a:ext cx="1633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i="1" dirty="0">
                <a:solidFill>
                  <a:srgbClr val="446678"/>
                </a:solidFill>
              </a:rPr>
              <a:t>1 / k∞</a:t>
            </a:r>
            <a:endParaRPr lang="en-US" sz="933" dirty="0"/>
          </a:p>
        </p:txBody>
      </p:sp>
      <p:sp>
        <p:nvSpPr>
          <p:cNvPr id="71" name="Shape 69"/>
          <p:cNvSpPr/>
          <p:nvPr/>
        </p:nvSpPr>
        <p:spPr>
          <a:xfrm>
            <a:off x="4023360" y="4242816"/>
            <a:ext cx="8071104" cy="438912"/>
          </a:xfrm>
          <a:prstGeom prst="rect">
            <a:avLst/>
          </a:prstGeom>
          <a:solidFill>
            <a:srgbClr val="EBF6F8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72" name="Text 70"/>
          <p:cNvSpPr/>
          <p:nvPr/>
        </p:nvSpPr>
        <p:spPr>
          <a:xfrm>
            <a:off x="4084320" y="4242816"/>
            <a:ext cx="93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021B33"/>
                </a:solidFill>
              </a:rPr>
              <a:t>Weight first</a:t>
            </a:r>
            <a:endParaRPr lang="en-US" sz="1133" dirty="0"/>
          </a:p>
        </p:txBody>
      </p:sp>
      <p:sp>
        <p:nvSpPr>
          <p:cNvPr id="73" name="Shape 71"/>
          <p:cNvSpPr/>
          <p:nvPr/>
        </p:nvSpPr>
        <p:spPr>
          <a:xfrm>
            <a:off x="5372727" y="4274461"/>
            <a:ext cx="431652" cy="431651"/>
          </a:xfrm>
          <a:prstGeom prst="ellipse">
            <a:avLst/>
          </a:prstGeom>
          <a:solidFill>
            <a:srgbClr val="9C59D1"/>
          </a:solidFill>
          <a:ln w="6350">
            <a:solidFill>
              <a:srgbClr val="9C59D1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74" name="Shape 72"/>
          <p:cNvSpPr/>
          <p:nvPr/>
        </p:nvSpPr>
        <p:spPr>
          <a:xfrm>
            <a:off x="6461760" y="4291584"/>
            <a:ext cx="341376" cy="341376"/>
          </a:xfrm>
          <a:prstGeom prst="ellipse">
            <a:avLst/>
          </a:prstGeom>
          <a:solidFill>
            <a:srgbClr val="E8447E"/>
          </a:solidFill>
          <a:ln w="6350">
            <a:solidFill>
              <a:srgbClr val="E8447E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75" name="Shape 73"/>
          <p:cNvSpPr/>
          <p:nvPr/>
        </p:nvSpPr>
        <p:spPr>
          <a:xfrm>
            <a:off x="7510272" y="4291584"/>
            <a:ext cx="341376" cy="341376"/>
          </a:xfrm>
          <a:prstGeom prst="ellipse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76" name="Shape 74"/>
          <p:cNvSpPr/>
          <p:nvPr/>
        </p:nvSpPr>
        <p:spPr>
          <a:xfrm>
            <a:off x="8631936" y="4364736"/>
            <a:ext cx="195072" cy="195072"/>
          </a:xfrm>
          <a:prstGeom prst="ellipse">
            <a:avLst/>
          </a:prstGeom>
          <a:solidFill>
            <a:srgbClr val="1DA1F2"/>
          </a:solidFill>
          <a:ln w="6350">
            <a:solidFill>
              <a:srgbClr val="1DA1F2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77" name="Shape 75"/>
          <p:cNvSpPr/>
          <p:nvPr/>
        </p:nvSpPr>
        <p:spPr>
          <a:xfrm>
            <a:off x="9680448" y="4364736"/>
            <a:ext cx="195072" cy="195072"/>
          </a:xfrm>
          <a:prstGeom prst="ellipse">
            <a:avLst/>
          </a:prstGeom>
          <a:solidFill>
            <a:srgbClr val="FF4500"/>
          </a:solidFill>
          <a:ln w="635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78" name="Text 76"/>
          <p:cNvSpPr/>
          <p:nvPr/>
        </p:nvSpPr>
        <p:spPr>
          <a:xfrm>
            <a:off x="10436352" y="4242816"/>
            <a:ext cx="1633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i="1" dirty="0">
                <a:solidFill>
                  <a:srgbClr val="446678"/>
                </a:solidFill>
              </a:rPr>
              <a:t>2×(p−k+1) / p(p+1)</a:t>
            </a:r>
            <a:endParaRPr lang="en-US" sz="933" dirty="0"/>
          </a:p>
        </p:txBody>
      </p:sp>
      <p:sp>
        <p:nvSpPr>
          <p:cNvPr id="79" name="Shape 77"/>
          <p:cNvSpPr/>
          <p:nvPr/>
        </p:nvSpPr>
        <p:spPr>
          <a:xfrm>
            <a:off x="4023360" y="4706112"/>
            <a:ext cx="8071104" cy="438912"/>
          </a:xfrm>
          <a:prstGeom prst="rect">
            <a:avLst/>
          </a:prstGeom>
          <a:solidFill>
            <a:srgbClr val="D6F0EB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0" name="Shape 78"/>
          <p:cNvSpPr/>
          <p:nvPr/>
        </p:nvSpPr>
        <p:spPr>
          <a:xfrm>
            <a:off x="4023360" y="4706112"/>
            <a:ext cx="97536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1" name="Text 79"/>
          <p:cNvSpPr/>
          <p:nvPr/>
        </p:nvSpPr>
        <p:spPr>
          <a:xfrm>
            <a:off x="4173967" y="4706112"/>
            <a:ext cx="93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028090"/>
                </a:solidFill>
              </a:rPr>
              <a:t>Linéaire (Even)</a:t>
            </a:r>
            <a:endParaRPr lang="en-US" sz="1133" dirty="0"/>
          </a:p>
        </p:txBody>
      </p:sp>
      <p:sp>
        <p:nvSpPr>
          <p:cNvPr id="82" name="Shape 80"/>
          <p:cNvSpPr/>
          <p:nvPr/>
        </p:nvSpPr>
        <p:spPr>
          <a:xfrm>
            <a:off x="5401056" y="4754880"/>
            <a:ext cx="341376" cy="341376"/>
          </a:xfrm>
          <a:prstGeom prst="ellipse">
            <a:avLst/>
          </a:prstGeom>
          <a:solidFill>
            <a:srgbClr val="9C59D1"/>
          </a:solidFill>
          <a:ln w="6350">
            <a:solidFill>
              <a:srgbClr val="9C59D1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3" name="Shape 81"/>
          <p:cNvSpPr/>
          <p:nvPr/>
        </p:nvSpPr>
        <p:spPr>
          <a:xfrm>
            <a:off x="6461760" y="4754880"/>
            <a:ext cx="341376" cy="341376"/>
          </a:xfrm>
          <a:prstGeom prst="ellipse">
            <a:avLst/>
          </a:prstGeom>
          <a:solidFill>
            <a:srgbClr val="E8447E"/>
          </a:solidFill>
          <a:ln w="6350">
            <a:solidFill>
              <a:srgbClr val="E8447E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4" name="Shape 82"/>
          <p:cNvSpPr/>
          <p:nvPr/>
        </p:nvSpPr>
        <p:spPr>
          <a:xfrm>
            <a:off x="7510272" y="4754880"/>
            <a:ext cx="341376" cy="341376"/>
          </a:xfrm>
          <a:prstGeom prst="ellipse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5" name="Shape 83"/>
          <p:cNvSpPr/>
          <p:nvPr/>
        </p:nvSpPr>
        <p:spPr>
          <a:xfrm>
            <a:off x="8558784" y="4754880"/>
            <a:ext cx="341376" cy="341376"/>
          </a:xfrm>
          <a:prstGeom prst="ellipse">
            <a:avLst/>
          </a:prstGeom>
          <a:solidFill>
            <a:srgbClr val="1DA1F2"/>
          </a:solidFill>
          <a:ln w="6350">
            <a:solidFill>
              <a:srgbClr val="1DA1F2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6" name="Shape 84"/>
          <p:cNvSpPr/>
          <p:nvPr/>
        </p:nvSpPr>
        <p:spPr>
          <a:xfrm>
            <a:off x="9607296" y="4754880"/>
            <a:ext cx="341376" cy="341376"/>
          </a:xfrm>
          <a:prstGeom prst="ellipse">
            <a:avLst/>
          </a:prstGeom>
          <a:solidFill>
            <a:srgbClr val="FF4500"/>
          </a:solidFill>
          <a:ln w="635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7" name="Text 85"/>
          <p:cNvSpPr/>
          <p:nvPr/>
        </p:nvSpPr>
        <p:spPr>
          <a:xfrm>
            <a:off x="10436352" y="4706112"/>
            <a:ext cx="1633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i="1" dirty="0">
                <a:solidFill>
                  <a:srgbClr val="446678"/>
                </a:solidFill>
              </a:rPr>
              <a:t>1 / p</a:t>
            </a:r>
            <a:endParaRPr lang="en-US" sz="933" dirty="0"/>
          </a:p>
        </p:txBody>
      </p:sp>
      <p:sp>
        <p:nvSpPr>
          <p:cNvPr id="88" name="Shape 86"/>
          <p:cNvSpPr/>
          <p:nvPr/>
        </p:nvSpPr>
        <p:spPr>
          <a:xfrm>
            <a:off x="4023360" y="5169408"/>
            <a:ext cx="8071104" cy="438912"/>
          </a:xfrm>
          <a:prstGeom prst="rect">
            <a:avLst/>
          </a:prstGeom>
          <a:solidFill>
            <a:srgbClr val="EBF6F8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9" name="Text 87"/>
          <p:cNvSpPr/>
          <p:nvPr/>
        </p:nvSpPr>
        <p:spPr>
          <a:xfrm>
            <a:off x="4084320" y="5169408"/>
            <a:ext cx="93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021B33"/>
                </a:solidFill>
              </a:rPr>
              <a:t>Weight last</a:t>
            </a:r>
            <a:endParaRPr lang="en-US" sz="1133" dirty="0"/>
          </a:p>
        </p:txBody>
      </p:sp>
      <p:sp>
        <p:nvSpPr>
          <p:cNvPr id="90" name="Shape 88"/>
          <p:cNvSpPr/>
          <p:nvPr/>
        </p:nvSpPr>
        <p:spPr>
          <a:xfrm>
            <a:off x="5474208" y="5291328"/>
            <a:ext cx="195072" cy="195072"/>
          </a:xfrm>
          <a:prstGeom prst="ellipse">
            <a:avLst/>
          </a:prstGeom>
          <a:solidFill>
            <a:srgbClr val="9C59D1"/>
          </a:solidFill>
          <a:ln w="6350">
            <a:solidFill>
              <a:srgbClr val="9C59D1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91" name="Shape 89"/>
          <p:cNvSpPr/>
          <p:nvPr/>
        </p:nvSpPr>
        <p:spPr>
          <a:xfrm>
            <a:off x="6534912" y="5291328"/>
            <a:ext cx="195072" cy="195072"/>
          </a:xfrm>
          <a:prstGeom prst="ellipse">
            <a:avLst/>
          </a:prstGeom>
          <a:solidFill>
            <a:srgbClr val="E8447E"/>
          </a:solidFill>
          <a:ln w="6350">
            <a:solidFill>
              <a:srgbClr val="E8447E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92" name="Shape 90"/>
          <p:cNvSpPr/>
          <p:nvPr/>
        </p:nvSpPr>
        <p:spPr>
          <a:xfrm>
            <a:off x="7510272" y="5218176"/>
            <a:ext cx="341376" cy="341376"/>
          </a:xfrm>
          <a:prstGeom prst="ellipse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93" name="Shape 91"/>
          <p:cNvSpPr/>
          <p:nvPr/>
        </p:nvSpPr>
        <p:spPr>
          <a:xfrm>
            <a:off x="8558784" y="5218176"/>
            <a:ext cx="341376" cy="341376"/>
          </a:xfrm>
          <a:prstGeom prst="ellipse">
            <a:avLst/>
          </a:prstGeom>
          <a:solidFill>
            <a:srgbClr val="1DA1F2"/>
          </a:solidFill>
          <a:ln w="6350">
            <a:solidFill>
              <a:srgbClr val="1DA1F2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94" name="Shape 92"/>
          <p:cNvSpPr/>
          <p:nvPr/>
        </p:nvSpPr>
        <p:spPr>
          <a:xfrm>
            <a:off x="9556555" y="5167435"/>
            <a:ext cx="454062" cy="420446"/>
          </a:xfrm>
          <a:prstGeom prst="ellipse">
            <a:avLst/>
          </a:prstGeom>
          <a:solidFill>
            <a:srgbClr val="FF4500"/>
          </a:solidFill>
          <a:ln w="635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95" name="Text 93"/>
          <p:cNvSpPr/>
          <p:nvPr/>
        </p:nvSpPr>
        <p:spPr>
          <a:xfrm>
            <a:off x="10458764" y="5169408"/>
            <a:ext cx="1633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i="1" dirty="0">
                <a:solidFill>
                  <a:srgbClr val="446678"/>
                </a:solidFill>
              </a:rPr>
              <a:t>2×k / p(p+1)</a:t>
            </a:r>
            <a:endParaRPr lang="en-US" sz="933" dirty="0"/>
          </a:p>
        </p:txBody>
      </p:sp>
      <p:sp>
        <p:nvSpPr>
          <p:cNvPr id="96" name="Shape 94"/>
          <p:cNvSpPr/>
          <p:nvPr/>
        </p:nvSpPr>
        <p:spPr>
          <a:xfrm>
            <a:off x="4023360" y="5632704"/>
            <a:ext cx="8071104" cy="438912"/>
          </a:xfrm>
          <a:prstGeom prst="rect">
            <a:avLst/>
          </a:prstGeom>
          <a:solidFill>
            <a:srgbClr val="F5FBFD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97" name="Shape 95"/>
          <p:cNvSpPr/>
          <p:nvPr/>
        </p:nvSpPr>
        <p:spPr>
          <a:xfrm>
            <a:off x="4023360" y="5632704"/>
            <a:ext cx="97536" cy="438912"/>
          </a:xfrm>
          <a:prstGeom prst="rect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98" name="Text 96"/>
          <p:cNvSpPr/>
          <p:nvPr/>
        </p:nvSpPr>
        <p:spPr>
          <a:xfrm>
            <a:off x="4173967" y="5643910"/>
            <a:ext cx="938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D94F4F"/>
                </a:solidFill>
              </a:rPr>
              <a:t>Last click ⚠</a:t>
            </a:r>
            <a:endParaRPr lang="en-US" sz="1133" dirty="0"/>
          </a:p>
        </p:txBody>
      </p:sp>
      <p:sp>
        <p:nvSpPr>
          <p:cNvPr id="99" name="Text 97"/>
          <p:cNvSpPr/>
          <p:nvPr/>
        </p:nvSpPr>
        <p:spPr>
          <a:xfrm>
            <a:off x="5388864" y="5730240"/>
            <a:ext cx="365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ABBCC"/>
                </a:solidFill>
              </a:rPr>
              <a:t>—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6449568" y="5730240"/>
            <a:ext cx="365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ABBCC"/>
                </a:solidFill>
              </a:rPr>
              <a:t>—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498080" y="5730240"/>
            <a:ext cx="365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ABBCC"/>
                </a:solidFill>
              </a:rPr>
              <a:t>—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8546592" y="5730240"/>
            <a:ext cx="365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AABBCC"/>
                </a:solidFill>
              </a:rPr>
              <a:t>—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9534144" y="5608320"/>
            <a:ext cx="487680" cy="487680"/>
          </a:xfrm>
          <a:prstGeom prst="ellipse">
            <a:avLst/>
          </a:prstGeom>
          <a:solidFill>
            <a:srgbClr val="FF4500"/>
          </a:solidFill>
          <a:ln w="6350">
            <a:solidFill>
              <a:srgbClr val="FF4500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104" name="Text 102"/>
          <p:cNvSpPr/>
          <p:nvPr/>
        </p:nvSpPr>
        <p:spPr>
          <a:xfrm>
            <a:off x="10436352" y="5632704"/>
            <a:ext cx="1633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i="1" dirty="0">
                <a:solidFill>
                  <a:srgbClr val="446678"/>
                </a:solidFill>
              </a:rPr>
              <a:t>1 / (p−k+1)∞</a:t>
            </a:r>
            <a:endParaRPr lang="en-US" sz="933" dirty="0"/>
          </a:p>
        </p:txBody>
      </p:sp>
      <p:sp>
        <p:nvSpPr>
          <p:cNvPr id="108" name="Text 106"/>
          <p:cNvSpPr/>
          <p:nvPr/>
        </p:nvSpPr>
        <p:spPr>
          <a:xfrm>
            <a:off x="4023360" y="6387891"/>
            <a:ext cx="804672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i="1">
                <a:solidFill>
                  <a:srgbClr val="557788"/>
                </a:solidFill>
              </a:rPr>
              <a:t>Source : </a:t>
            </a:r>
            <a:r>
              <a:rPr lang="en-US" sz="850" i="1" err="1">
                <a:solidFill>
                  <a:srgbClr val="557788"/>
                </a:solidFill>
              </a:rPr>
              <a:t>Matomo</a:t>
            </a:r>
            <a:r>
              <a:rPr lang="en-US" sz="850" i="1">
                <a:solidFill>
                  <a:srgbClr val="557788"/>
                </a:solidFill>
              </a:rPr>
              <a:t> </a:t>
            </a:r>
            <a:r>
              <a:rPr lang="en-US" sz="850" i="1" err="1">
                <a:solidFill>
                  <a:srgbClr val="557788"/>
                </a:solidFill>
              </a:rPr>
              <a:t>Divezone</a:t>
            </a:r>
            <a:r>
              <a:rPr lang="en-US" sz="850" i="1">
                <a:solidFill>
                  <a:srgbClr val="557788"/>
                </a:solidFill>
              </a:rPr>
              <a:t> 2022  – Web Analytics 2025  ·  dive-shop.net</a:t>
            </a:r>
            <a:endParaRPr lang="en-US" sz="850"/>
          </a:p>
        </p:txBody>
      </p:sp>
      <p:sp>
        <p:nvSpPr>
          <p:cNvPr id="111" name="Text 5">
            <a:extLst>
              <a:ext uri="{FF2B5EF4-FFF2-40B4-BE49-F238E27FC236}">
                <a16:creationId xmlns:a16="http://schemas.microsoft.com/office/drawing/2014/main" id="{2781F707-084A-D2EE-3BC6-E98065A44BC6}"/>
              </a:ext>
            </a:extLst>
          </p:cNvPr>
          <p:cNvSpPr/>
          <p:nvPr/>
        </p:nvSpPr>
        <p:spPr>
          <a:xfrm>
            <a:off x="11572090" y="6581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ea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091B4B9C-4833-FBAF-6E7C-1D560B29C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85754"/>
              </p:ext>
            </p:extLst>
          </p:nvPr>
        </p:nvGraphicFramePr>
        <p:xfrm>
          <a:off x="228600" y="1714948"/>
          <a:ext cx="7230176" cy="2806515"/>
        </p:xfrm>
        <a:graphic>
          <a:graphicData uri="http://schemas.openxmlformats.org/drawingml/2006/table">
            <a:tbl>
              <a:tblPr/>
              <a:tblGrid>
                <a:gridCol w="86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999">
                  <a:extLst>
                    <a:ext uri="{9D8B030D-6E8A-4147-A177-3AD203B41FA5}">
                      <a16:colId xmlns:a16="http://schemas.microsoft.com/office/drawing/2014/main" val="2932459072"/>
                    </a:ext>
                  </a:extLst>
                </a:gridCol>
                <a:gridCol w="617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2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68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Visites</a:t>
                      </a:r>
                      <a:endParaRPr lang="en-US" sz="1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Rebond</a:t>
                      </a:r>
                      <a:endParaRPr lang="en-US" sz="10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 réalisé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$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CPC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fr-FR" sz="10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$ </a:t>
                      </a:r>
                      <a:endParaRPr lang="en-US" sz="100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00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Verdict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7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Google 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k$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F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622,557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212121"/>
                          </a:solidFill>
                        </a:rPr>
                        <a:t>82 %</a:t>
                      </a:r>
                      <a:endParaRPr lang="fr-FR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F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29,138.70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3E3D4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0,16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Calibri" charset="0"/>
                          <a:ea typeface="Calibri" charset="0"/>
                          <a:cs typeface="Calibri" charset="0"/>
                        </a:rPr>
                        <a:t>0.29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FF0000"/>
                          </a:solidFill>
                        </a:rPr>
                        <a:t>Perte d'argent — 1 $ </a:t>
                      </a:r>
                      <a:r>
                        <a:rPr lang="en-US" sz="1000" b="0" i="0" u="none" strike="noStrike" noProof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investi ne rapporte que </a:t>
                      </a:r>
                      <a:r>
                        <a:rPr lang="en-US" sz="1000" b="0" i="0" u="none" strike="noStrike" noProof="0">
                          <a:solidFill>
                            <a:srgbClr val="FF0000"/>
                          </a:solidFill>
                        </a:rPr>
                        <a:t>0,29 $</a:t>
                      </a:r>
                      <a:endParaRPr lang="fr-FR" sz="10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0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u="none" strike="noStrike">
                          <a:solidFill>
                            <a:srgbClr val="3E3D4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Bing &amp;Yahoo</a:t>
                      </a:r>
                    </a:p>
                    <a:p>
                      <a:pPr marL="0" indent="0" algn="ctr">
                        <a:buNone/>
                      </a:pP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k$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F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44,696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212121"/>
                          </a:solidFill>
                        </a:rPr>
                        <a:t>58 %</a:t>
                      </a:r>
                      <a:endParaRPr lang="fr-FR" sz="100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F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146,442.65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3E3D4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Calibri" charset="0"/>
                          <a:ea typeface="Calibri" charset="0"/>
                          <a:cs typeface="Calibri" charset="0"/>
                        </a:rPr>
                        <a:t>2,92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accent4">
                              <a:lumMod val="49000"/>
                            </a:schemeClr>
                          </a:solidFill>
                        </a:rPr>
                        <a:t>Proche du seuil mais le CPC est  trop élevé (2,13 $) </a:t>
                      </a:r>
                      <a:endParaRPr lang="fr-FR" sz="1000">
                        <a:solidFill>
                          <a:schemeClr val="accent4">
                            <a:lumMod val="49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737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3E3D4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DuckDuckGo</a:t>
                      </a:r>
                      <a:endParaRPr lang="fr-FR" sz="1000" b="0" i="0" u="none" strike="noStrike" err="1">
                        <a:solidFill>
                          <a:srgbClr val="3E3D4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k$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F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27,836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F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37%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F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294,650.80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3E3D4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0,90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Calibri" charset="0"/>
                          <a:ea typeface="Calibri" charset="0"/>
                          <a:cs typeface="Calibri" charset="0"/>
                        </a:rPr>
                        <a:t>11,78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B0F0"/>
                          </a:solidFill>
                        </a:rPr>
                        <a:t>★ Meilleur canal SEA</a:t>
                      </a:r>
                      <a:endParaRPr lang="en-US" sz="1000" dirty="0">
                        <a:solidFill>
                          <a:srgbClr val="00B0F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0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3E3D4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Qwant</a:t>
                      </a:r>
                      <a:endParaRPr lang="en-US" sz="10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k$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FR" sz="1000" u="none" strike="noStrike">
                          <a:solidFill>
                            <a:srgbClr val="212121"/>
                          </a:solidFill>
                          <a:effectLst/>
                        </a:rPr>
                        <a:t>11,755</a:t>
                      </a:r>
                    </a:p>
                  </a:txBody>
                  <a:tcPr marL="95250" marR="1143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fr-FR" sz="1000"/>
                        <a:t>43%</a:t>
                      </a:r>
                    </a:p>
                  </a:txBody>
                  <a:tcPr marL="266700" marR="1143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F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109,377.80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000" b="0" i="0" u="none" strike="noStrike">
                          <a:solidFill>
                            <a:srgbClr val="3E3D4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2,13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latin typeface="Calibri" charset="0"/>
                          <a:ea typeface="Calibri" charset="0"/>
                          <a:cs typeface="Calibri" charset="0"/>
                        </a:rPr>
                        <a:t>4,38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accent4">
                              <a:lumMod val="49000"/>
                            </a:schemeClr>
                          </a:solidFill>
                        </a:rPr>
                        <a:t>Bon ROAS parce que le CPC élevé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hape 0">
            <a:extLst>
              <a:ext uri="{FF2B5EF4-FFF2-40B4-BE49-F238E27FC236}">
                <a16:creationId xmlns:a16="http://schemas.microsoft.com/office/drawing/2014/main" id="{02152F5D-25DB-A64D-60BC-5D4606FD6EBD}"/>
              </a:ext>
            </a:extLst>
          </p:cNvPr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625C72D-3357-6D21-0877-6210AB63D69C}"/>
              </a:ext>
            </a:extLst>
          </p:cNvPr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· ZOOM SEA</a:t>
            </a:r>
            <a:endParaRPr lang="en-US" sz="110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4FDD6DB-3EFA-3CE0-54D3-C8EEC5ED2C3A}"/>
              </a:ext>
            </a:extLst>
          </p:cNvPr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ROAS de </a:t>
            </a:r>
            <a:r>
              <a:rPr lang="en-US" sz="2600" b="1" dirty="0" err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</a:t>
            </a:r>
            <a:r>
              <a:rPr lang="en-US" sz="26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search engines </a:t>
            </a:r>
            <a:endParaRPr lang="en-US" sz="26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99E593A-36D9-A8CC-9E9F-6D1DB6430F40}"/>
              </a:ext>
            </a:extLst>
          </p:cNvPr>
          <p:cNvSpPr/>
          <p:nvPr/>
        </p:nvSpPr>
        <p:spPr>
          <a:xfrm>
            <a:off x="4211171" y="1326776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/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D89DA1E1-4AF9-4854-96DB-F662BA94F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9463402"/>
              </p:ext>
            </p:extLst>
          </p:nvPr>
        </p:nvGraphicFramePr>
        <p:xfrm>
          <a:off x="7631334" y="1507863"/>
          <a:ext cx="4556184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4FA3B5A3-9EE6-9B88-FA55-D15CA4AC775B}"/>
              </a:ext>
            </a:extLst>
          </p:cNvPr>
          <p:cNvSpPr/>
          <p:nvPr/>
        </p:nvSpPr>
        <p:spPr>
          <a:xfrm>
            <a:off x="7870115" y="4618616"/>
            <a:ext cx="34398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paradoxe Google : on paye pour du trafic organique</a:t>
            </a:r>
            <a:endParaRPr lang="en-US" sz="1500">
              <a:solidFill>
                <a:srgbClr val="FF0000"/>
              </a:solidFill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174C02BE-25E8-7C97-FB31-8E24E63447F8}"/>
              </a:ext>
            </a:extLst>
          </p:cNvPr>
          <p:cNvSpPr/>
          <p:nvPr/>
        </p:nvSpPr>
        <p:spPr>
          <a:xfrm>
            <a:off x="457200" y="5394960"/>
            <a:ext cx="11247120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CD054C00-DA9C-5DBE-B701-0E959DE542A1}"/>
              </a:ext>
            </a:extLst>
          </p:cNvPr>
          <p:cNvSpPr/>
          <p:nvPr/>
        </p:nvSpPr>
        <p:spPr>
          <a:xfrm>
            <a:off x="640080" y="5440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TRIPLER GOOGLE COMME LE DEMANDE PRAKASH</a:t>
            </a:r>
            <a:endParaRPr lang="en-US" sz="100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A1D8C37D-B970-AEC5-3911-5EE4B850C3DB}"/>
              </a:ext>
            </a:extLst>
          </p:cNvPr>
          <p:cNvSpPr/>
          <p:nvPr/>
        </p:nvSpPr>
        <p:spPr>
          <a:xfrm>
            <a:off x="640080" y="57150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mots-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l'enchère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brand/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organiques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1B5C727-E1D9-B40D-FBD6-5C778CEDAEA2}"/>
              </a:ext>
            </a:extLst>
          </p:cNvPr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857AF8E-6E0C-9FB4-C4B7-BD1112F914EB}"/>
              </a:ext>
            </a:extLst>
          </p:cNvPr>
          <p:cNvSpPr/>
          <p:nvPr/>
        </p:nvSpPr>
        <p:spPr>
          <a:xfrm>
            <a:off x="11572090" y="6581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678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17F3-EB57-5841-9AE4-5A259B1F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>
            <a:extLst>
              <a:ext uri="{FF2B5EF4-FFF2-40B4-BE49-F238E27FC236}">
                <a16:creationId xmlns:a16="http://schemas.microsoft.com/office/drawing/2014/main" id="{5D8DAFDC-D0A2-308F-81D6-10DED3226F78}"/>
              </a:ext>
            </a:extLst>
          </p:cNvPr>
          <p:cNvSpPr/>
          <p:nvPr/>
        </p:nvSpPr>
        <p:spPr>
          <a:xfrm>
            <a:off x="177053" y="5757582"/>
            <a:ext cx="7699339" cy="109728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4E774B1B-2F66-407B-4EF9-0A759B74B6CA}"/>
              </a:ext>
            </a:extLst>
          </p:cNvPr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950ED74-A6CD-7FA7-04B8-7CD864355839}"/>
              </a:ext>
            </a:extLst>
          </p:cNvPr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· ZOOM SEA</a:t>
            </a:r>
            <a:endParaRPr lang="en-US" sz="110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AE8EE8D-F5F6-E7A3-3D2C-C2369B57AA89}"/>
              </a:ext>
            </a:extLst>
          </p:cNvPr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err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Analyser</a:t>
            </a:r>
            <a:r>
              <a:rPr lang="en-US" sz="2600" b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 search engines – mots </a:t>
            </a:r>
            <a:r>
              <a:rPr lang="en-US" sz="2600" b="1" err="1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clés</a:t>
            </a:r>
            <a:endParaRPr lang="en-US" sz="2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804F03-65FA-C68C-D1A3-8F82FCE0E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250" y="1766421"/>
            <a:ext cx="2160859" cy="33251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D82D8-AF84-745F-56DE-4F3136DB0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41" y="1822399"/>
            <a:ext cx="1328746" cy="3370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923C50-F4B6-39E4-1DF8-F28CADFF0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181" y="1828165"/>
            <a:ext cx="1539505" cy="3419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78CB71-C120-1A05-3C04-D7EED7931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180" y="1785948"/>
            <a:ext cx="1539505" cy="3503458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F394BF37-C63D-C895-D4FE-A848940DC327}"/>
              </a:ext>
            </a:extLst>
          </p:cNvPr>
          <p:cNvGrpSpPr/>
          <p:nvPr/>
        </p:nvGrpSpPr>
        <p:grpSpPr>
          <a:xfrm>
            <a:off x="524435" y="5761211"/>
            <a:ext cx="6813178" cy="830997"/>
            <a:chOff x="502023" y="5570711"/>
            <a:chExt cx="6813178" cy="830997"/>
          </a:xfrm>
        </p:grpSpPr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E1BB02A6-791A-DF64-3540-B95640DB5DD2}"/>
                </a:ext>
              </a:extLst>
            </p:cNvPr>
            <p:cNvSpPr/>
            <p:nvPr/>
          </p:nvSpPr>
          <p:spPr>
            <a:xfrm>
              <a:off x="502023" y="5945876"/>
              <a:ext cx="1116650" cy="190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Google :  Les mots </a:t>
              </a:r>
              <a:r>
                <a:rPr lang="en-US" sz="11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clés</a:t>
              </a:r>
              <a:r>
                <a:rPr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1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n’ont</a:t>
              </a:r>
              <a:r>
                <a:rPr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 pas de liens avec </a:t>
              </a:r>
              <a:r>
                <a:rPr lang="en-US" sz="11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notre</a:t>
              </a:r>
              <a:r>
                <a:rPr lang="en-US" sz="11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 produits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2CDFCB-AE58-3A2D-5E92-2205B4F48C17}"/>
                </a:ext>
              </a:extLst>
            </p:cNvPr>
            <p:cNvSpPr txBox="1"/>
            <p:nvPr/>
          </p:nvSpPr>
          <p:spPr>
            <a:xfrm>
              <a:off x="3654568" y="5654381"/>
              <a:ext cx="1886727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12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Sur Duck : on garde les mots </a:t>
              </a:r>
              <a:r>
                <a:rPr lang="en-US" sz="12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clés</a:t>
              </a:r>
              <a:endParaRPr lang="en-US" sz="1200">
                <a:solidFill>
                  <a:srgbClr val="F2F2F2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8AD19B-0000-504B-95F5-80D30F2DB336}"/>
                </a:ext>
              </a:extLst>
            </p:cNvPr>
            <p:cNvSpPr txBox="1"/>
            <p:nvPr/>
          </p:nvSpPr>
          <p:spPr>
            <a:xfrm>
              <a:off x="2078180" y="5570711"/>
              <a:ext cx="1161473" cy="830997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spAutoFit/>
            </a:bodyPr>
            <a:lstStyle/>
            <a:p>
              <a:r>
                <a:rPr lang="en-US" sz="12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Sur </a:t>
              </a:r>
              <a:r>
                <a:rPr lang="en-US" sz="12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bing</a:t>
              </a:r>
              <a:r>
                <a:rPr lang="en-US" sz="12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: Il faut modifier les mots </a:t>
              </a:r>
              <a:r>
                <a:rPr lang="en-US" sz="12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clés</a:t>
              </a:r>
              <a:r>
                <a:rPr lang="en-US" sz="12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 pour plus de </a:t>
              </a:r>
              <a:r>
                <a:rPr lang="en-US" sz="12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clarté</a:t>
              </a:r>
              <a:r>
                <a:rPr lang="en-US" sz="12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897837-6D41-C4D6-C59C-69095636C33C}"/>
                </a:ext>
              </a:extLst>
            </p:cNvPr>
            <p:cNvSpPr txBox="1"/>
            <p:nvPr/>
          </p:nvSpPr>
          <p:spPr>
            <a:xfrm>
              <a:off x="5670353" y="5665729"/>
              <a:ext cx="164484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US" sz="12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Sur </a:t>
              </a:r>
              <a:r>
                <a:rPr lang="en-US" sz="12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qwant</a:t>
              </a:r>
              <a:r>
                <a:rPr lang="en-US" sz="12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 :  il faut modifier </a:t>
              </a:r>
              <a:r>
                <a:rPr lang="en-US" sz="12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quelques</a:t>
              </a:r>
              <a:r>
                <a:rPr lang="en-US" sz="1200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 mots </a:t>
              </a:r>
              <a:r>
                <a:rPr lang="en-US" sz="1200" err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clés</a:t>
              </a:r>
              <a:r>
                <a:rPr lang="en-US" sz="1200" b="1">
                  <a:solidFill>
                    <a:srgbClr val="F2F2F2"/>
                  </a:solidFill>
                  <a:latin typeface="Calibri"/>
                  <a:ea typeface="Calibri"/>
                  <a:cs typeface="Calibri"/>
                </a:rPr>
                <a:t> </a:t>
              </a:r>
              <a:endParaRPr lang="en-US" sz="1200">
                <a:solidFill>
                  <a:srgbClr val="F2F2F2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4" name="Text 9">
            <a:extLst>
              <a:ext uri="{FF2B5EF4-FFF2-40B4-BE49-F238E27FC236}">
                <a16:creationId xmlns:a16="http://schemas.microsoft.com/office/drawing/2014/main" id="{039D5E85-A836-B7D2-73B7-12D1DCD0ED45}"/>
              </a:ext>
            </a:extLst>
          </p:cNvPr>
          <p:cNvSpPr/>
          <p:nvPr/>
        </p:nvSpPr>
        <p:spPr>
          <a:xfrm>
            <a:off x="8297183" y="177338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PROBLÈME</a:t>
            </a:r>
            <a:endParaRPr lang="en-US" sz="100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C82B3C94-E690-241D-552E-ADE2A0D9D7FF}"/>
              </a:ext>
            </a:extLst>
          </p:cNvPr>
          <p:cNvSpPr/>
          <p:nvPr/>
        </p:nvSpPr>
        <p:spPr>
          <a:xfrm>
            <a:off x="8109998" y="1822399"/>
            <a:ext cx="3877385" cy="3745276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E536C16-D507-3D71-B750-8FAF95097615}"/>
              </a:ext>
            </a:extLst>
          </p:cNvPr>
          <p:cNvSpPr/>
          <p:nvPr/>
        </p:nvSpPr>
        <p:spPr>
          <a:xfrm>
            <a:off x="8631507" y="2129876"/>
            <a:ext cx="27225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mots-</a:t>
            </a:r>
            <a:r>
              <a:rPr lang="en-US" sz="1600" b="1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clés</a:t>
            </a: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payants</a:t>
            </a: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Campaigns Keywords</a:t>
            </a:r>
            <a:endParaRPr lang="en-US" sz="1600"/>
          </a:p>
        </p:txBody>
      </p:sp>
      <p:graphicFrame>
        <p:nvGraphicFramePr>
          <p:cNvPr id="26" name="Table 0">
            <a:extLst>
              <a:ext uri="{FF2B5EF4-FFF2-40B4-BE49-F238E27FC236}">
                <a16:creationId xmlns:a16="http://schemas.microsoft.com/office/drawing/2014/main" id="{9B5A4607-0806-F5C8-B8A4-96A938428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920941"/>
              </p:ext>
            </p:extLst>
          </p:nvPr>
        </p:nvGraphicFramePr>
        <p:xfrm>
          <a:off x="8441090" y="2803114"/>
          <a:ext cx="3103341" cy="2480527"/>
        </p:xfrm>
        <a:graphic>
          <a:graphicData uri="http://schemas.openxmlformats.org/drawingml/2006/table">
            <a:tbl>
              <a:tblPr/>
              <a:tblGrid>
                <a:gridCol w="21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Mot-</a:t>
                      </a:r>
                      <a:r>
                        <a:rPr lang="en-US" sz="1100" b="1" dirty="0" err="1">
                          <a:solidFill>
                            <a:srgbClr val="0A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 err="1">
                          <a:solidFill>
                            <a:srgbClr val="0A3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divezone.net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diveadvisor.com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www.reddit.com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www.scubadiving.com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www.pinterest.com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www.facebook.com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832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· ZOOM SITES PARTENAIRES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ea typeface="Calibri"/>
                <a:cs typeface="Calibri"/>
              </a:rPr>
              <a:t>10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200 k$ partenaires : 4 sites qui performent + 1 à supprimer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qualifiée plongée — ROAS 8,2 (2ᵉ meilleur du mix)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partenaire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Durée moy.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généré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/ visite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diveadvisor.com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66 044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min 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505 536 $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7,66 $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Conserver — passer en CPS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scubadiving.com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 44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553 125 $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10,55 $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Meilleur CA / visite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scubadiverlife.com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49 283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min 10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427 378 $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8,67 $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Conserver — passer en CPS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emperordivers.com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21 706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min 28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152 821 $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7,04 $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Conserver — passer en CPS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 14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À SUPPRIMER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9"/>
          <p:cNvSpPr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: Prakash voulait couper les partenaires. La donnée dit que c'est notre 2ᵉ meilleur ROAS.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affinitaires plongée → audiences qualifiées → 35 % de rebond (vs 78 % SEA), 6 min de visite, ROAS 8,2.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· LE PROBLÈME N°1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30 millions de dollars de panier moyen </a:t>
            </a:r>
            <a:r>
              <a:rPr lang="en-US" sz="2600" b="1" dirty="0" err="1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abandonnés</a:t>
            </a:r>
            <a:r>
              <a:rPr lang="en-US" sz="2600" b="1" dirty="0">
                <a:solidFill>
                  <a:srgbClr val="0A3D62"/>
                </a:solidFill>
                <a:latin typeface="Georgia"/>
                <a:ea typeface="Georgia" pitchFamily="34" charset="-122"/>
                <a:cs typeface="Georgia" pitchFamily="34" charset="-120"/>
              </a:rPr>
              <a:t>  </a:t>
            </a:r>
            <a:endParaRPr lang="en-US" sz="2600" b="1" dirty="0">
              <a:solidFill>
                <a:srgbClr val="0A3D62"/>
              </a:solidFill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1 $ encaissé, 5,75 $ perdus en panier abandonné</a:t>
            </a:r>
            <a:endParaRPr lang="en-US" sz="130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4076256981"/>
              </p:ext>
            </p:extLst>
          </p:nvPr>
        </p:nvGraphicFramePr>
        <p:xfrm>
          <a:off x="457200" y="1965064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8"/>
          <p:cNvSpPr/>
          <p:nvPr/>
        </p:nvSpPr>
        <p:spPr>
          <a:xfrm>
            <a:off x="6309360" y="1920240"/>
            <a:ext cx="5303520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9"/>
          <p:cNvSpPr/>
          <p:nvPr/>
        </p:nvSpPr>
        <p:spPr>
          <a:xfrm>
            <a:off x="6492240" y="19685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85 %</a:t>
            </a:r>
            <a:endParaRPr lang="en-US" sz="6000"/>
          </a:p>
        </p:txBody>
      </p:sp>
      <p:sp>
        <p:nvSpPr>
          <p:cNvPr id="13" name="Text 10"/>
          <p:cNvSpPr/>
          <p:nvPr/>
        </p:nvSpPr>
        <p:spPr>
          <a:xfrm>
            <a:off x="6492240" y="278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paniers créés ne sont jamais finalisés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>
          <a:xfrm>
            <a:off x="6309360" y="3383280"/>
            <a:ext cx="5303520" cy="12801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2"/>
          <p:cNvSpPr/>
          <p:nvPr/>
        </p:nvSpPr>
        <p:spPr>
          <a:xfrm>
            <a:off x="649224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132 164</a:t>
            </a:r>
            <a:endParaRPr lang="en-US" sz="4000"/>
          </a:p>
        </p:txBody>
      </p:sp>
      <p:sp>
        <p:nvSpPr>
          <p:cNvPr id="16" name="Text 13"/>
          <p:cNvSpPr/>
          <p:nvPr/>
        </p:nvSpPr>
        <p:spPr>
          <a:xfrm>
            <a:off x="649224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</a:t>
            </a:r>
            <a:r>
              <a:rPr lang="en-US" sz="13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panier </a:t>
            </a:r>
            <a:r>
              <a:rPr lang="en-US" sz="1300" i="1" dirty="0" err="1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abandonné</a:t>
            </a:r>
            <a:r>
              <a:rPr lang="en-US" sz="13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4846320"/>
            <a:ext cx="5303520" cy="100584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5"/>
          <p:cNvSpPr/>
          <p:nvPr/>
        </p:nvSpPr>
        <p:spPr>
          <a:xfrm>
            <a:off x="649224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CHANTIER N°1 DE 2023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6492240" y="5212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emailing &amp; retargeting — (augmenter 0%&gt; 5 à 8 %)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Matomo Divezone 2022 — Objectif ecommerceAbandonedCart</a:t>
            </a:r>
            <a:endParaRPr lang="en-US" sz="9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00F8D-AE64-8EDA-9577-F69A55C3B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AFC1D6-248A-9897-7301-6FAF9BCE5911}"/>
              </a:ext>
            </a:extLst>
          </p:cNvPr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E4D907-BB92-1EAB-0914-807AA77AF69E}"/>
              </a:ext>
            </a:extLst>
          </p:cNvPr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ACTE 2 · RECOMMANDATION N°1</a:t>
            </a:r>
            <a:endParaRPr lang="fr-FR"/>
          </a:p>
          <a:p>
            <a:pPr marL="0" indent="0">
              <a:buNone/>
            </a:pPr>
            <a:endParaRPr lang="en-US" sz="1100" b="1" kern="0" spc="30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FC11A4-3C1B-E6D0-D55D-922A3D0893CB}"/>
              </a:ext>
            </a:extLst>
          </p:cNvPr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8AAC510-54B3-11F1-8606-39869322D704}"/>
              </a:ext>
            </a:extLst>
          </p:cNvPr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Divezone | Bilan 2022 &amp; Recommandations 2023</a:t>
            </a:r>
            <a:endParaRPr lang="en-US"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AABB50-240A-FF30-DC3E-E2844398B607}"/>
              </a:ext>
            </a:extLst>
          </p:cNvPr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A28A91-9C25-F059-0990-0E1AA617D898}"/>
              </a:ext>
            </a:extLst>
          </p:cNvPr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err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Réallouer</a:t>
            </a:r>
            <a:r>
              <a:rPr lang="en-US" sz="2600" b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 175 000 $ — </a:t>
            </a:r>
            <a:r>
              <a:rPr lang="en-US" sz="2600" b="1" err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couper</a:t>
            </a:r>
            <a:r>
              <a:rPr lang="en-US" sz="2600" b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 et </a:t>
            </a:r>
            <a:r>
              <a:rPr lang="en-US" sz="2600" b="1" err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réinvestir</a:t>
            </a:r>
            <a:endParaRPr lang="en-US" sz="2600" b="1">
              <a:solidFill>
                <a:srgbClr val="0A3D62"/>
              </a:solidFill>
              <a:latin typeface="Georgia"/>
              <a:ea typeface="+mn-lt"/>
              <a:cs typeface="+mn-lt"/>
            </a:endParaRPr>
          </a:p>
          <a:p>
            <a:endParaRPr lang="en-US" sz="2600" b="1">
              <a:solidFill>
                <a:srgbClr val="0A3D62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821D3B-7FC2-BA22-42A6-A032BC9BA20D}"/>
              </a:ext>
            </a:extLst>
          </p:cNvPr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Budget total </a:t>
            </a:r>
            <a:r>
              <a:rPr lang="en-US" sz="13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inchangé</a:t>
            </a: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: 800 k$ </a:t>
            </a:r>
            <a:r>
              <a:rPr lang="en-US" sz="1300" i="1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2023. Objectif : +30 à +40 % de CA → 7 M$.</a:t>
            </a:r>
          </a:p>
          <a:p>
            <a:endParaRPr lang="en-US" sz="1300" i="1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AA0E2B4-09A7-E508-F1C3-B0A2B75EC84C}"/>
              </a:ext>
            </a:extLst>
          </p:cNvPr>
          <p:cNvSpPr/>
          <p:nvPr/>
        </p:nvSpPr>
        <p:spPr>
          <a:xfrm>
            <a:off x="527126" y="2783093"/>
            <a:ext cx="5415577" cy="2042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 lIns="91440" tIns="45720" rIns="91440" bIns="45720" anchor="t"/>
          <a:lstStyle/>
          <a:p>
            <a:pPr lvl="0" algn="l" rtl="0"/>
            <a:endParaRPr lang="en-US" sz="1600">
              <a:solidFill>
                <a:srgbClr val="FFFFFF"/>
              </a:solidFill>
              <a:latin typeface="Barlow"/>
              <a:cs typeface="Arial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256A2B5-285D-EEF7-1A7B-1E8CE72789CE}"/>
              </a:ext>
            </a:extLst>
          </p:cNvPr>
          <p:cNvSpPr/>
          <p:nvPr/>
        </p:nvSpPr>
        <p:spPr>
          <a:xfrm>
            <a:off x="1169446" y="2517589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À Couper — 175 k$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056F22C-9B8D-6D15-1C45-9C27FA2C1D53}"/>
              </a:ext>
            </a:extLst>
          </p:cNvPr>
          <p:cNvSpPr/>
          <p:nvPr/>
        </p:nvSpPr>
        <p:spPr>
          <a:xfrm>
            <a:off x="6309360" y="2789370"/>
            <a:ext cx="5381960" cy="2075776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E53D6D3-554A-F229-E2C8-12E74F7658FF}"/>
              </a:ext>
            </a:extLst>
          </p:cNvPr>
          <p:cNvSpPr/>
          <p:nvPr/>
        </p:nvSpPr>
        <p:spPr>
          <a:xfrm>
            <a:off x="649224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000" b="1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4000" b="1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F06223A-597F-0038-99B5-4207AAE784A8}"/>
              </a:ext>
            </a:extLst>
          </p:cNvPr>
          <p:cNvSpPr/>
          <p:nvPr/>
        </p:nvSpPr>
        <p:spPr>
          <a:xfrm>
            <a:off x="6749976" y="3835549"/>
            <a:ext cx="4937760" cy="186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chemeClr val="bg1">
                    <a:lumMod val="85000"/>
                  </a:schemeClr>
                </a:solidFill>
                <a:ea typeface="Calibri"/>
                <a:cs typeface="Calibri"/>
              </a:rPr>
              <a:t>Reddit +75 k$ (ROAS 24,5)</a:t>
            </a:r>
          </a:p>
          <a:p>
            <a:r>
              <a:rPr lang="en-US" b="1">
                <a:solidFill>
                  <a:schemeClr val="bg1">
                    <a:lumMod val="85000"/>
                  </a:schemeClr>
                </a:solidFill>
                <a:ea typeface="Calibri"/>
                <a:cs typeface="Calibri"/>
              </a:rPr>
              <a:t>Emailing +30 k$ · Retargeting +25 k$</a:t>
            </a:r>
          </a:p>
          <a:p>
            <a:r>
              <a:rPr lang="en-US" b="1">
                <a:solidFill>
                  <a:schemeClr val="bg1">
                    <a:lumMod val="85000"/>
                  </a:schemeClr>
                </a:solidFill>
                <a:ea typeface="Calibri"/>
                <a:cs typeface="Calibri"/>
              </a:rPr>
              <a:t>Tracking +25 k$ · Audit SEA +20 k$</a:t>
            </a:r>
          </a:p>
          <a:p>
            <a:pPr marL="0" indent="0">
              <a:buNone/>
            </a:pPr>
            <a:endParaRPr lang="en-US" b="1">
              <a:solidFill>
                <a:srgbClr val="9DB4C0"/>
              </a:solidFill>
              <a:ea typeface="Calibri"/>
              <a:cs typeface="Calibri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DA53CAE-08CF-1FC6-91CE-EF3200B88C2E}"/>
              </a:ext>
            </a:extLst>
          </p:cNvPr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Matomo Divezone 2022 — Objectif ecommerceAbandonedCart</a:t>
            </a:r>
            <a:endParaRPr lang="en-US" sz="90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9EAE4EB-62FB-AE8B-3BF9-2168AC7DF013}"/>
              </a:ext>
            </a:extLst>
          </p:cNvPr>
          <p:cNvSpPr txBox="1"/>
          <p:nvPr/>
        </p:nvSpPr>
        <p:spPr>
          <a:xfrm>
            <a:off x="1296990" y="3205358"/>
            <a:ext cx="38813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Instagram −50 k$ · Pinterest −50 k$</a:t>
            </a:r>
          </a:p>
          <a:p>
            <a:r>
              <a:rPr lang="fr-FR" b="1" err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Qwant</a:t>
            </a:r>
            <a:r>
              <a:rPr lang="fr-FR" b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 −25 k$ · Yahoo −25 k$</a:t>
            </a:r>
          </a:p>
          <a:p>
            <a:r>
              <a:rPr lang="fr-FR" b="1">
                <a:solidFill>
                  <a:schemeClr val="bg1">
                    <a:lumMod val="95000"/>
                  </a:schemeClr>
                </a:solidFill>
                <a:ea typeface="Calibri"/>
                <a:cs typeface="Calibri"/>
              </a:rPr>
              <a:t>Facebook −25 k$</a:t>
            </a:r>
          </a:p>
          <a:p>
            <a:pPr algn="l"/>
            <a:endParaRPr lang="fr-FR">
              <a:ea typeface="Calibri"/>
              <a:cs typeface="Calibri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1A652FBC-752C-284D-1BAB-D65F12E03F26}"/>
              </a:ext>
            </a:extLst>
          </p:cNvPr>
          <p:cNvSpPr/>
          <p:nvPr/>
        </p:nvSpPr>
        <p:spPr>
          <a:xfrm>
            <a:off x="6073589" y="2779642"/>
            <a:ext cx="36606" cy="2058060"/>
          </a:xfrm>
          <a:prstGeom prst="roundRect">
            <a:avLst>
              <a:gd name="adj" fmla="val 1239006"/>
            </a:avLst>
          </a:prstGeom>
          <a:solidFill>
            <a:srgbClr val="0FC3C0"/>
          </a:solidFill>
          <a:ln/>
        </p:spPr>
        <p:txBody>
          <a:bodyPr/>
          <a:lstStyle/>
          <a:p>
            <a:endParaRPr lang="en-FR" sz="240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006F449-6D14-1564-E26D-B46802A9337A}"/>
              </a:ext>
            </a:extLst>
          </p:cNvPr>
          <p:cNvSpPr/>
          <p:nvPr/>
        </p:nvSpPr>
        <p:spPr>
          <a:xfrm>
            <a:off x="6525857" y="2808941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À </a:t>
            </a:r>
            <a:r>
              <a:rPr lang="en-US" sz="2000" b="1" err="1">
                <a:solidFill>
                  <a:schemeClr val="bg1"/>
                </a:solidFill>
                <a:ea typeface="+mn-lt"/>
                <a:cs typeface="+mn-lt"/>
              </a:rPr>
              <a:t>Réinvestir</a:t>
            </a: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 — 175 k$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2000" b="1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2068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>
            <a:extLst>
              <a:ext uri="{FF2B5EF4-FFF2-40B4-BE49-F238E27FC236}">
                <a16:creationId xmlns:a16="http://schemas.microsoft.com/office/drawing/2014/main" id="{D3488986-43C5-D3DF-9A72-FFD9C2F6684A}"/>
              </a:ext>
            </a:extLst>
          </p:cNvPr>
          <p:cNvSpPr/>
          <p:nvPr/>
        </p:nvSpPr>
        <p:spPr>
          <a:xfrm>
            <a:off x="472440" y="3067805"/>
            <a:ext cx="5217160" cy="285515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6ED42E39-BCD8-A032-9C1D-89D1FBF6988F}"/>
              </a:ext>
            </a:extLst>
          </p:cNvPr>
          <p:cNvSpPr/>
          <p:nvPr/>
        </p:nvSpPr>
        <p:spPr>
          <a:xfrm>
            <a:off x="6080799" y="3067805"/>
            <a:ext cx="5217160" cy="285515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99D08D-E218-0CBC-257E-C6A29F2F55ED}"/>
              </a:ext>
            </a:extLst>
          </p:cNvPr>
          <p:cNvSpPr/>
          <p:nvPr/>
        </p:nvSpPr>
        <p:spPr>
          <a:xfrm>
            <a:off x="734219" y="3103067"/>
            <a:ext cx="339615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b="1" dirty="0">
                <a:solidFill>
                  <a:schemeClr val="bg1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Emailing &amp; Retargeting — 55 k$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0292D6-25A0-32C5-B1AA-90365D7C2F51}"/>
              </a:ext>
            </a:extLst>
          </p:cNvPr>
          <p:cNvSpPr/>
          <p:nvPr/>
        </p:nvSpPr>
        <p:spPr>
          <a:xfrm>
            <a:off x="734219" y="3604220"/>
            <a:ext cx="5105896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ROI emailing : </a:t>
            </a:r>
            <a:r>
              <a:rPr lang="en-US" sz="1600" b="1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36–42 $/1 $ investi</a:t>
            </a: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Retargeting : </a:t>
            </a:r>
            <a:r>
              <a:rPr lang="en-US" sz="1600" b="1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×10</a:t>
            </a: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conversion.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74041B-4C83-A434-DFFA-0EEA8393ED1B}"/>
              </a:ext>
            </a:extLst>
          </p:cNvPr>
          <p:cNvSpPr/>
          <p:nvPr/>
        </p:nvSpPr>
        <p:spPr>
          <a:xfrm>
            <a:off x="734219" y="4464547"/>
            <a:ext cx="5105896" cy="74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Automation panier J+1, J+3, J+7</a:t>
            </a:r>
            <a:endParaRPr lang="en-US" sz="1600" dirty="0">
              <a:solidFill>
                <a:schemeClr val="bg1"/>
              </a:solidFill>
            </a:endParaRPr>
          </a:p>
          <a:p>
            <a:pPr marL="457189" indent="-457189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Retargeting Meta/Google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2CA859-2638-B8E9-DAA0-C5163FBEBF76}"/>
              </a:ext>
            </a:extLst>
          </p:cNvPr>
          <p:cNvSpPr/>
          <p:nvPr/>
        </p:nvSpPr>
        <p:spPr>
          <a:xfrm>
            <a:off x="734219" y="5398294"/>
            <a:ext cx="510589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b="1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Impact : +1,5 à +2,4 M$ de CA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235DB9-570F-5687-5F7B-2C1DA5A40D56}"/>
              </a:ext>
            </a:extLst>
          </p:cNvPr>
          <p:cNvSpPr/>
          <p:nvPr/>
        </p:nvSpPr>
        <p:spPr>
          <a:xfrm>
            <a:off x="6358235" y="3103067"/>
            <a:ext cx="233114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67"/>
              </a:lnSpc>
            </a:pPr>
            <a:r>
              <a:rPr lang="en-US" b="1" dirty="0">
                <a:solidFill>
                  <a:schemeClr val="bg1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SEA &amp; Attribution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C85BEAC-6B6D-4544-63CD-0D901EE7FC96}"/>
              </a:ext>
            </a:extLst>
          </p:cNvPr>
          <p:cNvSpPr/>
          <p:nvPr/>
        </p:nvSpPr>
        <p:spPr>
          <a:xfrm>
            <a:off x="6358235" y="3604221"/>
            <a:ext cx="510589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Couper les keywords organiques. Quitter le last-click.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1F1371-9E14-F350-7FA2-335A87CB6BC1}"/>
              </a:ext>
            </a:extLst>
          </p:cNvPr>
          <p:cNvSpPr/>
          <p:nvPr/>
        </p:nvSpPr>
        <p:spPr>
          <a:xfrm>
            <a:off x="6358235" y="4128789"/>
            <a:ext cx="5105896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Audit top 50 keywords Google</a:t>
            </a:r>
            <a:endParaRPr lang="en-US" sz="1600" dirty="0">
              <a:solidFill>
                <a:schemeClr val="bg1"/>
              </a:solidFill>
            </a:endParaRPr>
          </a:p>
          <a:p>
            <a:pPr marL="457189" indent="-457189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Matomo en modèle linéaire</a:t>
            </a:r>
            <a:endParaRPr lang="en-US" sz="1600" dirty="0">
              <a:solidFill>
                <a:schemeClr val="bg1"/>
              </a:solidFill>
            </a:endParaRPr>
          </a:p>
          <a:p>
            <a:pPr marL="457189" indent="-457189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Rebond 78 % → &lt; 60 %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EA65D490-EBBA-AAF4-2D02-8D54D6E20704}"/>
              </a:ext>
            </a:extLst>
          </p:cNvPr>
          <p:cNvSpPr/>
          <p:nvPr/>
        </p:nvSpPr>
        <p:spPr>
          <a:xfrm>
            <a:off x="457200" y="320040"/>
            <a:ext cx="137160" cy="32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CFF9183-A29E-3EB1-36DE-CEF575A40BD0}"/>
              </a:ext>
            </a:extLst>
          </p:cNvPr>
          <p:cNvSpPr/>
          <p:nvPr/>
        </p:nvSpPr>
        <p:spPr>
          <a:xfrm>
            <a:off x="68580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ACTE 2 · RECOMMANDATION N°2</a:t>
            </a:r>
            <a:endParaRPr lang="fr-FR"/>
          </a:p>
          <a:p>
            <a:pPr marL="0" indent="0">
              <a:buNone/>
            </a:pPr>
            <a:endParaRPr lang="en-US" sz="1100" b="1" kern="0" spc="30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BCC5EE06-4387-9D8C-AEBE-320DB99D172B}"/>
              </a:ext>
            </a:extLst>
          </p:cNvPr>
          <p:cNvSpPr/>
          <p:nvPr/>
        </p:nvSpPr>
        <p:spPr>
          <a:xfrm>
            <a:off x="558053" y="878093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err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Activer</a:t>
            </a:r>
            <a:r>
              <a:rPr lang="en-US" sz="2600" b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 emailing, retargeting &amp; </a:t>
            </a:r>
            <a:r>
              <a:rPr lang="en-US" sz="2600" b="1" err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sortir</a:t>
            </a:r>
            <a:r>
              <a:rPr lang="en-US" sz="2600" b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 du pilotage à </a:t>
            </a:r>
            <a:r>
              <a:rPr lang="en-US" sz="2600" b="1" err="1">
                <a:solidFill>
                  <a:srgbClr val="0A3D62"/>
                </a:solidFill>
                <a:latin typeface="Georgia"/>
                <a:ea typeface="+mn-lt"/>
                <a:cs typeface="+mn-lt"/>
              </a:rPr>
              <a:t>l'aveugle</a:t>
            </a:r>
          </a:p>
          <a:p>
            <a:endParaRPr lang="en-US" sz="2600" b="1">
              <a:solidFill>
                <a:srgbClr val="0A3D62"/>
              </a:solidFill>
              <a:latin typeface="Georgia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7005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D11B9A-E71A-B7B7-7FEB-03D529B38F65}"/>
              </a:ext>
            </a:extLst>
          </p:cNvPr>
          <p:cNvSpPr/>
          <p:nvPr/>
        </p:nvSpPr>
        <p:spPr>
          <a:xfrm>
            <a:off x="734219" y="738386"/>
            <a:ext cx="1310283" cy="368101"/>
          </a:xfrm>
          <a:prstGeom prst="roundRect">
            <a:avLst>
              <a:gd name="adj" fmla="val 64976"/>
            </a:avLst>
          </a:prstGeom>
          <a:solidFill>
            <a:srgbClr val="004D36"/>
          </a:solidFill>
          <a:ln/>
        </p:spPr>
        <p:txBody>
          <a:bodyPr/>
          <a:lstStyle/>
          <a:p>
            <a:endParaRPr lang="en-FR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84E6AE-35DD-2289-AF87-1F32879A07C0}"/>
              </a:ext>
            </a:extLst>
          </p:cNvPr>
          <p:cNvSpPr/>
          <p:nvPr/>
        </p:nvSpPr>
        <p:spPr>
          <a:xfrm>
            <a:off x="853778" y="798116"/>
            <a:ext cx="1071165" cy="248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33"/>
              </a:lnSpc>
            </a:pPr>
            <a:r>
              <a:rPr lang="en-US" sz="12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 2023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334336-B9CC-E841-E93E-2A65E961B591}"/>
              </a:ext>
            </a:extLst>
          </p:cNvPr>
          <p:cNvSpPr/>
          <p:nvPr/>
        </p:nvSpPr>
        <p:spPr>
          <a:xfrm>
            <a:off x="734220" y="1182192"/>
            <a:ext cx="8509297" cy="553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3467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Une trajectoire claire pour atteindre 7 M$</a:t>
            </a:r>
            <a:endParaRPr lang="en-US" sz="3467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F4D067-A6AD-6C63-CA15-3222825BC111}"/>
              </a:ext>
            </a:extLst>
          </p:cNvPr>
          <p:cNvSpPr/>
          <p:nvPr/>
        </p:nvSpPr>
        <p:spPr>
          <a:xfrm>
            <a:off x="958353" y="2019796"/>
            <a:ext cx="25400" cy="3066752"/>
          </a:xfrm>
          <a:prstGeom prst="roundRect">
            <a:avLst>
              <a:gd name="adj" fmla="val 1177056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FR" sz="24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7D97CB6-A8B3-1EF1-A37E-0C2C4BC9093F}"/>
              </a:ext>
            </a:extLst>
          </p:cNvPr>
          <p:cNvSpPr/>
          <p:nvPr/>
        </p:nvSpPr>
        <p:spPr>
          <a:xfrm>
            <a:off x="1157139" y="2231231"/>
            <a:ext cx="597892" cy="25400"/>
          </a:xfrm>
          <a:prstGeom prst="roundRect">
            <a:avLst>
              <a:gd name="adj" fmla="val 1177056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FR"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23E37BE-977B-041D-3518-FEE7012FBE24}"/>
              </a:ext>
            </a:extLst>
          </p:cNvPr>
          <p:cNvSpPr/>
          <p:nvPr/>
        </p:nvSpPr>
        <p:spPr>
          <a:xfrm>
            <a:off x="734170" y="2019797"/>
            <a:ext cx="448369" cy="448369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3475FE-BD7B-D4B9-7385-5C223F705A4F}"/>
              </a:ext>
            </a:extLst>
          </p:cNvPr>
          <p:cNvSpPr/>
          <p:nvPr/>
        </p:nvSpPr>
        <p:spPr>
          <a:xfrm>
            <a:off x="825451" y="2077839"/>
            <a:ext cx="26570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067" b="1" dirty="0">
                <a:solidFill>
                  <a:schemeClr val="bg1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067" dirty="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AE78D04-F673-3F5C-CD7E-70F09271BEF2}"/>
              </a:ext>
            </a:extLst>
          </p:cNvPr>
          <p:cNvSpPr/>
          <p:nvPr/>
        </p:nvSpPr>
        <p:spPr>
          <a:xfrm>
            <a:off x="1955007" y="2088258"/>
            <a:ext cx="22145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733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T1 — Fondations</a:t>
            </a:r>
            <a:endParaRPr lang="en-US" sz="1733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BE404D2-FC3D-2474-714A-73D879B5683D}"/>
              </a:ext>
            </a:extLst>
          </p:cNvPr>
          <p:cNvSpPr/>
          <p:nvPr/>
        </p:nvSpPr>
        <p:spPr>
          <a:xfrm>
            <a:off x="1955007" y="2478683"/>
            <a:ext cx="9502775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33" dirty="0">
                <a:latin typeface="Barlow" pitchFamily="34" charset="0"/>
                <a:ea typeface="Barlow" pitchFamily="34" charset="-122"/>
                <a:cs typeface="Barlow" pitchFamily="34" charset="-120"/>
              </a:rPr>
              <a:t>Audit keywords · Attribution multitouch · Emailing automation</a:t>
            </a:r>
            <a:endParaRPr lang="en-US" sz="1533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7DDE0B0-FD49-81AA-E6D4-F4B3F823CEE0}"/>
              </a:ext>
            </a:extLst>
          </p:cNvPr>
          <p:cNvSpPr/>
          <p:nvPr/>
        </p:nvSpPr>
        <p:spPr>
          <a:xfrm>
            <a:off x="1157139" y="3379688"/>
            <a:ext cx="597892" cy="25400"/>
          </a:xfrm>
          <a:prstGeom prst="roundRect">
            <a:avLst>
              <a:gd name="adj" fmla="val 1177056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FR" sz="24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3500411-29D1-310A-4B08-912B5B332F6C}"/>
              </a:ext>
            </a:extLst>
          </p:cNvPr>
          <p:cNvSpPr/>
          <p:nvPr/>
        </p:nvSpPr>
        <p:spPr>
          <a:xfrm>
            <a:off x="734170" y="3168254"/>
            <a:ext cx="448369" cy="448369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FBABD45-9DEC-1790-7D81-753260FFE9E7}"/>
              </a:ext>
            </a:extLst>
          </p:cNvPr>
          <p:cNvSpPr/>
          <p:nvPr/>
        </p:nvSpPr>
        <p:spPr>
          <a:xfrm>
            <a:off x="825451" y="3226296"/>
            <a:ext cx="26570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067" b="1" dirty="0">
                <a:solidFill>
                  <a:schemeClr val="bg1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067" dirty="0">
              <a:solidFill>
                <a:schemeClr val="bg1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14BFBBD-4191-5D3A-86FF-3CCEDDAEE3B8}"/>
              </a:ext>
            </a:extLst>
          </p:cNvPr>
          <p:cNvSpPr/>
          <p:nvPr/>
        </p:nvSpPr>
        <p:spPr>
          <a:xfrm>
            <a:off x="1955007" y="3236715"/>
            <a:ext cx="22145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733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T2 — Optimisation</a:t>
            </a:r>
            <a:endParaRPr lang="en-US" sz="1733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8829F81-D3E9-19C2-FDC9-F7CEAD71824A}"/>
              </a:ext>
            </a:extLst>
          </p:cNvPr>
          <p:cNvSpPr/>
          <p:nvPr/>
        </p:nvSpPr>
        <p:spPr>
          <a:xfrm>
            <a:off x="1955007" y="3627140"/>
            <a:ext cx="9502775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33" dirty="0">
                <a:latin typeface="Barlow" pitchFamily="34" charset="0"/>
                <a:ea typeface="Barlow" pitchFamily="34" charset="-122"/>
                <a:cs typeface="Barlow" pitchFamily="34" charset="-120"/>
              </a:rPr>
              <a:t>A/B tests landing pages · Retargeting actif · Reddit +75 k$</a:t>
            </a:r>
            <a:endParaRPr lang="en-US" sz="1533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820CE9A-3AD4-9311-FCC9-1E6F48ACBB0A}"/>
              </a:ext>
            </a:extLst>
          </p:cNvPr>
          <p:cNvSpPr/>
          <p:nvPr/>
        </p:nvSpPr>
        <p:spPr>
          <a:xfrm>
            <a:off x="1157139" y="4528145"/>
            <a:ext cx="597892" cy="25400"/>
          </a:xfrm>
          <a:prstGeom prst="roundRect">
            <a:avLst>
              <a:gd name="adj" fmla="val 1177056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n-FR" sz="24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94CBC08-36F2-B593-A63B-74095CAEE5E7}"/>
              </a:ext>
            </a:extLst>
          </p:cNvPr>
          <p:cNvSpPr/>
          <p:nvPr/>
        </p:nvSpPr>
        <p:spPr>
          <a:xfrm>
            <a:off x="734170" y="4316712"/>
            <a:ext cx="448369" cy="448369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FR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15528BE-3435-8D4F-4C66-EAC7376EC6C4}"/>
              </a:ext>
            </a:extLst>
          </p:cNvPr>
          <p:cNvSpPr/>
          <p:nvPr/>
        </p:nvSpPr>
        <p:spPr>
          <a:xfrm>
            <a:off x="825451" y="4374753"/>
            <a:ext cx="26570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2067" b="1" dirty="0">
                <a:solidFill>
                  <a:schemeClr val="bg1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067" dirty="0">
              <a:solidFill>
                <a:schemeClr val="bg1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95FAB75-19D8-F0DA-3332-4370A1062DD8}"/>
              </a:ext>
            </a:extLst>
          </p:cNvPr>
          <p:cNvSpPr/>
          <p:nvPr/>
        </p:nvSpPr>
        <p:spPr>
          <a:xfrm>
            <a:off x="1955007" y="4385171"/>
            <a:ext cx="221456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33"/>
              </a:lnSpc>
            </a:pPr>
            <a:r>
              <a:rPr lang="en-US" sz="1733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T3 — Pilotage</a:t>
            </a:r>
            <a:endParaRPr lang="en-US" sz="1733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ABD6505-672A-EA52-F2EE-187FFBCEB884}"/>
              </a:ext>
            </a:extLst>
          </p:cNvPr>
          <p:cNvSpPr/>
          <p:nvPr/>
        </p:nvSpPr>
        <p:spPr>
          <a:xfrm>
            <a:off x="1955007" y="4775597"/>
            <a:ext cx="9502775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33" dirty="0">
                <a:latin typeface="Barlow" pitchFamily="34" charset="0"/>
                <a:ea typeface="Barlow" pitchFamily="34" charset="-122"/>
                <a:cs typeface="Barlow" pitchFamily="34" charset="-120"/>
              </a:rPr>
              <a:t>Revue ROI mensuelle · Ajustements canaux · Objectif +30 à +40 %</a:t>
            </a:r>
            <a:endParaRPr lang="en-US" sz="1533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498A3D8-74E7-981E-D5B7-6FE60EB495C4}"/>
              </a:ext>
            </a:extLst>
          </p:cNvPr>
          <p:cNvSpPr/>
          <p:nvPr/>
        </p:nvSpPr>
        <p:spPr>
          <a:xfrm>
            <a:off x="734219" y="5299472"/>
            <a:ext cx="10723563" cy="820043"/>
          </a:xfrm>
          <a:prstGeom prst="roundRect">
            <a:avLst>
              <a:gd name="adj" fmla="val 36458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FR" sz="240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0A103622-7155-48AF-7832-964F227F5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1" y="5602785"/>
            <a:ext cx="249139" cy="199231"/>
          </a:xfrm>
          <a:prstGeom prst="rect">
            <a:avLst/>
          </a:prstGeom>
        </p:spPr>
      </p:pic>
      <p:sp>
        <p:nvSpPr>
          <p:cNvPr id="23" name="Text 20">
            <a:extLst>
              <a:ext uri="{FF2B5EF4-FFF2-40B4-BE49-F238E27FC236}">
                <a16:creationId xmlns:a16="http://schemas.microsoft.com/office/drawing/2014/main" id="{F4DB42A7-40C0-37E8-8EF6-37C21391B665}"/>
              </a:ext>
            </a:extLst>
          </p:cNvPr>
          <p:cNvSpPr/>
          <p:nvPr/>
        </p:nvSpPr>
        <p:spPr>
          <a:xfrm>
            <a:off x="1381820" y="5538589"/>
            <a:ext cx="9876731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33" b="1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Jean-Marc, vos 800 000 $ peuvent générer +30 à +40 % de CA en 2023. Prêts à démarrer.</a:t>
            </a:r>
            <a:endParaRPr lang="en-US" sz="1533" dirty="0">
              <a:solidFill>
                <a:schemeClr val="bg1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82B6D7A-8FA8-764A-EF7D-A387A8FD18A5}"/>
              </a:ext>
            </a:extLst>
          </p:cNvPr>
          <p:cNvSpPr txBox="1"/>
          <p:nvPr/>
        </p:nvSpPr>
        <p:spPr>
          <a:xfrm>
            <a:off x="2274794" y="470647"/>
            <a:ext cx="6096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1100" b="1" spc="500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ROADMAP 2023 &amp; KPI CIBLES</a:t>
            </a:r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335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1833</Words>
  <Application>Microsoft Macintosh PowerPoint</Application>
  <PresentationFormat>Widescreen</PresentationFormat>
  <Paragraphs>427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Barlow</vt:lpstr>
      <vt:lpstr>Calibri</vt:lpstr>
      <vt:lpstr>Georgia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Divezone - Bilan 2022 &amp; Recommandations 2023 - V3</dc:title>
  <dc:subject>PptxGenJS Presentation</dc:subject>
  <dc:creator>B. Athea Consulting</dc:creator>
  <cp:lastModifiedBy>Hai Yen NGUYEN</cp:lastModifiedBy>
  <cp:revision>5</cp:revision>
  <dcterms:created xsi:type="dcterms:W3CDTF">2026-05-06T09:42:10Z</dcterms:created>
  <dcterms:modified xsi:type="dcterms:W3CDTF">2026-05-07T11:04:19Z</dcterms:modified>
</cp:coreProperties>
</file>